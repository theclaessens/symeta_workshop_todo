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" name="Shape 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Welcome. Frame the day: they already use LLMs — today is about going from chatting to delegating, and building habits that keep improving after today.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9" name="Shape 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Walk the arc: morning = mindset + foundations, afternoon = skills + power tools + how to keep improving. Every block has hands-on work.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Shape 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8" name="Shape 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Short block — they know LLMs. The gap is agency, not intelligence.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Shape 1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8" name="Shape 1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Keep to 10 minutes. The two-fact summary at the bottom is the anchor for the whole day.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5" name="Shape 1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Defuse CLI anxiety early — nobody is blocked because of the terminal. Demo both briefly. Show where the desktop app displays usage/cost so CLI-only commands don't confuse GUI users.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Shape 19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Shape 19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Prepare the bug beforehand; keep the chat version genuinely fair. The token comparison lands harder than any slide.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Shape 2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5" name="Shape 2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Emphasize plan mode as the default for multi-file work. Permissions: show the prompt once so it isn't scary later.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0" name="Shape 2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Everyone succeeds here — it's a confidence lab. Note the /cost figures publicly; we re-run this after the repo is AI-ready.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Shape 2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9" name="Shape 2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expanded foundation block. Everything here compounds.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Shape 2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4" name="Shape 2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#1 token leak: re-explaining conventions every session. CLAUDE.md is the fix. Keep it lean — it's context on every request.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8" name="Shape 2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.NET audience advantage: they already have strong typing. Sell fast tests hard — it's the highest-leverage repo investment.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hape 30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1" name="Shape 30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emphasis panel is the takeaway: agent config is team infrastructure, not personal preference.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27" name="Shape 3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 one hook live: the git-guardrails pattern (Pocock has a setup skill for it). The distinction to land: CLAUDE.md is a request, a hook is a mechanism.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Shape 3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77" name="Shape 3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before/after /cost comparison is the payoff moment of the morning. Collect a few numbers on the whiteboard.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Shape 4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32" name="Shape 4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Real example to tell: PR review → handoff doc → second agent implements the review feedback. Pocock's /handoff skill is the reference pattern.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Shape 44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45" name="Shape 44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Also cover vertical slices here: small deliberate steps, one slice at a time — the rate of feedback is your speed limit.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4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3" name="Shape 4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full flow: plan on the top model → /handoff → /clear → switch model → implement from the doc. Frame in money: plan at premium rates, execute at commodity rates.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Shape 4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88" name="Shape 4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Show the two-line setup live: worktree add, cd, open a second Claude Code session. Windows note: works identically; keep paths short.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50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03" name="Shape 50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Everyone experiences both flows themselves — that's the point of writing both prompts up front (no hindsight-polishing the one-shot). Prep the repo so worktree setup is a copy-paste.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Shape 5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12" name="Shape 5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Post-lunch: keep it active.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Shape 5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25" name="Shape 5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Walk the file top to bottom. Land the 'Use when' point hard: the description is a prompt written for the model, not documentation for humans. Then open a real skill from Pocock's repo to show the same shape at production quality.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54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48" name="Shape 54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 both: say 'this file feels AI-sloppy, clean it up' (auto-trigger), then /deslop directly. Then show a deploy-style skill where disable-model-invocation is the sane choice.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Shape 5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59" name="Shape 5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table is on the cheat sheet too. Most confusion disappears once they stop stuffing processes into CLAUDE.md.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Shape 5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80" name="Shape 5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Read the actual skill files together — 5 min each. github.com/mattpocock/skills. The point is calibration: what good looks like.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hape 6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3" name="Shape 6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Thomas's real pr-review-handoff workflow — demo it if time allows. Grilling, handoff and review conventions were all introduced earlier; this slide just snaps them together.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Shape 6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26" name="Shape 6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the one slide to remember from today. The reflex, not the library.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Shape 64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1" name="Shape 64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big lab. Walk the room — the hard part is picking a pain point that's a process, not a fact. Push facts to CLAUDE.md.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Shape 6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0" name="Shape 6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Demo-driven, no lab. End with the matching exercise.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Shape 7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24" name="Shape 7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Demo-driven, no lab. End with the matching exercise.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Shape 7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0" name="Shape 7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Pick the demo tracker to match Symeta's stack (open question: Azure DevOps vs GitHub vs Jira).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Shape 76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61" name="Shape 76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Close with the 5-min paper exercise: match four problem descriptions to the right tool.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Shape 76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70" name="Shape 77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teach-to-fish block.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Shape 8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02" name="Shape 8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Skills are living documents: when one misfires, have the agent edit its own skill — 'update this skill so next time you…'.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Shape 8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63" name="Shape 8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Collect the commitments (photo or form). For the August group: open with what the July group built.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code.claude.com/docs/en/skills" TargetMode="External"/><Relationship Id="rId4" Type="http://schemas.openxmlformats.org/officeDocument/2006/relationships/image" Target="../media/image3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57200" y="457200"/>
            <a:ext cx="987553" cy="411481"/>
          </a:xfrm>
          <a:prstGeom prst="rect">
            <a:avLst/>
          </a:prstGeom>
          <a:ln w="12700">
            <a:miter lim="400000"/>
          </a:ln>
        </p:spPr>
      </p:pic>
      <p:sp>
        <p:nvSpPr>
          <p:cNvPr id="21" name="Text 0"/>
          <p:cNvSpPr txBox="1"/>
          <p:nvPr/>
        </p:nvSpPr>
        <p:spPr>
          <a:xfrm>
            <a:off x="475487" y="2645917"/>
            <a:ext cx="7315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SYMETA HYBRID · TECHNICAL TRAINING</a:t>
            </a:r>
          </a:p>
        </p:txBody>
      </p:sp>
      <p:sp>
        <p:nvSpPr>
          <p:cNvPr id="22" name="Text 1"/>
          <p:cNvSpPr txBox="1"/>
          <p:nvPr/>
        </p:nvSpPr>
        <p:spPr>
          <a:xfrm>
            <a:off x="475488" y="2907792"/>
            <a:ext cx="8138160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Claude &amp; Claude Code in your coding workflow</a:t>
            </a:r>
          </a:p>
        </p:txBody>
      </p:sp>
      <p:sp>
        <p:nvSpPr>
          <p:cNvPr id="23" name="Text 2"/>
          <p:cNvSpPr txBox="1"/>
          <p:nvPr/>
        </p:nvSpPr>
        <p:spPr>
          <a:xfrm>
            <a:off x="475487" y="4025900"/>
            <a:ext cx="7772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Full-day workshop · 16 July &amp; 27 August 2026 · Thomas Claessens, Faktion</a:t>
            </a:r>
          </a:p>
        </p:txBody>
      </p:sp>
      <p:sp>
        <p:nvSpPr>
          <p:cNvPr id="24" name="Shape 3"/>
          <p:cNvSpPr/>
          <p:nvPr/>
        </p:nvSpPr>
        <p:spPr>
          <a:xfrm>
            <a:off x="0" y="4773167"/>
            <a:ext cx="9144000" cy="370333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4"/>
          <p:cNvSpPr txBox="1"/>
          <p:nvPr/>
        </p:nvSpPr>
        <p:spPr>
          <a:xfrm>
            <a:off x="502919" y="4842763"/>
            <a:ext cx="8138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Increase performance  ·  Spend fewer tokens  ·  Keep improving on your own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F0424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30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One day, seven blocks, five labs</a:t>
            </a:r>
          </a:p>
        </p:txBody>
      </p:sp>
      <p:sp>
        <p:nvSpPr>
          <p:cNvPr id="31" name="Shape 2"/>
          <p:cNvSpPr/>
          <p:nvPr/>
        </p:nvSpPr>
        <p:spPr>
          <a:xfrm flipH="1">
            <a:off x="1572767" y="1316736"/>
            <a:ext cx="1" cy="3154681"/>
          </a:xfrm>
          <a:prstGeom prst="line">
            <a:avLst/>
          </a:prstGeom>
          <a:ln w="19050">
            <a:solidFill>
              <a:srgbClr val="3A3A3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3"/>
          <p:cNvSpPr txBox="1"/>
          <p:nvPr/>
        </p:nvSpPr>
        <p:spPr>
          <a:xfrm>
            <a:off x="475487" y="1249679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09:00</a:t>
            </a:r>
          </a:p>
        </p:txBody>
      </p:sp>
      <p:sp>
        <p:nvSpPr>
          <p:cNvPr id="33" name="Shape 4"/>
          <p:cNvSpPr/>
          <p:nvPr/>
        </p:nvSpPr>
        <p:spPr>
          <a:xfrm>
            <a:off x="1508760" y="1261872"/>
            <a:ext cx="128017" cy="128017"/>
          </a:xfrm>
          <a:prstGeom prst="ellipse">
            <a:avLst/>
          </a:prstGeom>
          <a:solidFill>
            <a:srgbClr val="F0424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Text 5"/>
          <p:cNvSpPr txBox="1"/>
          <p:nvPr/>
        </p:nvSpPr>
        <p:spPr>
          <a:xfrm>
            <a:off x="1828800" y="1224279"/>
            <a:ext cx="62179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04242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1  </a:t>
            </a:r>
            <a:r>
              <a:rPr>
                <a:solidFill>
                  <a:srgbClr val="FFFFFF"/>
                </a:solidFill>
              </a:rPr>
              <a:t>From chatting to delegating</a:t>
            </a:r>
          </a:p>
        </p:txBody>
      </p:sp>
      <p:sp>
        <p:nvSpPr>
          <p:cNvPr id="35" name="Text 6"/>
          <p:cNvSpPr txBox="1"/>
          <p:nvPr/>
        </p:nvSpPr>
        <p:spPr>
          <a:xfrm>
            <a:off x="475487" y="1565147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09:45</a:t>
            </a:r>
          </a:p>
        </p:txBody>
      </p:sp>
      <p:sp>
        <p:nvSpPr>
          <p:cNvPr id="36" name="Shape 7"/>
          <p:cNvSpPr/>
          <p:nvPr/>
        </p:nvSpPr>
        <p:spPr>
          <a:xfrm>
            <a:off x="1508760" y="1577339"/>
            <a:ext cx="128017" cy="128017"/>
          </a:xfrm>
          <a:prstGeom prst="ellipse">
            <a:avLst/>
          </a:prstGeom>
          <a:solidFill>
            <a:srgbClr val="F0424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8"/>
          <p:cNvSpPr txBox="1"/>
          <p:nvPr/>
        </p:nvSpPr>
        <p:spPr>
          <a:xfrm>
            <a:off x="1828800" y="1539747"/>
            <a:ext cx="62179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04242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2  </a:t>
            </a:r>
            <a:r>
              <a:rPr>
                <a:solidFill>
                  <a:srgbClr val="FFFFFF"/>
                </a:solidFill>
              </a:rPr>
              <a:t>An AI-ready codebase</a:t>
            </a:r>
          </a:p>
        </p:txBody>
      </p:sp>
      <p:sp>
        <p:nvSpPr>
          <p:cNvPr id="38" name="Text 9"/>
          <p:cNvSpPr txBox="1"/>
          <p:nvPr/>
        </p:nvSpPr>
        <p:spPr>
          <a:xfrm>
            <a:off x="475487" y="1880615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11:00</a:t>
            </a:r>
          </a:p>
        </p:txBody>
      </p:sp>
      <p:sp>
        <p:nvSpPr>
          <p:cNvPr id="39" name="Shape 10"/>
          <p:cNvSpPr/>
          <p:nvPr/>
        </p:nvSpPr>
        <p:spPr>
          <a:xfrm>
            <a:off x="1531619" y="1915667"/>
            <a:ext cx="82297" cy="82297"/>
          </a:xfrm>
          <a:prstGeom prst="ellipse">
            <a:avLst/>
          </a:prstGeom>
          <a:solidFill>
            <a:srgbClr val="000000"/>
          </a:solidFill>
          <a:ln w="12700">
            <a:solidFill>
              <a:srgbClr val="5A5A5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0" name="Text 11"/>
          <p:cNvSpPr txBox="1"/>
          <p:nvPr/>
        </p:nvSpPr>
        <p:spPr>
          <a:xfrm>
            <a:off x="1828800" y="1886965"/>
            <a:ext cx="62179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Break</a:t>
            </a:r>
          </a:p>
        </p:txBody>
      </p:sp>
      <p:sp>
        <p:nvSpPr>
          <p:cNvPr id="41" name="Text 12"/>
          <p:cNvSpPr txBox="1"/>
          <p:nvPr/>
        </p:nvSpPr>
        <p:spPr>
          <a:xfrm>
            <a:off x="475487" y="2196083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11:15</a:t>
            </a:r>
          </a:p>
        </p:txBody>
      </p:sp>
      <p:sp>
        <p:nvSpPr>
          <p:cNvPr id="42" name="Shape 13"/>
          <p:cNvSpPr/>
          <p:nvPr/>
        </p:nvSpPr>
        <p:spPr>
          <a:xfrm>
            <a:off x="1508760" y="2208276"/>
            <a:ext cx="128017" cy="128017"/>
          </a:xfrm>
          <a:prstGeom prst="ellipse">
            <a:avLst/>
          </a:prstGeom>
          <a:solidFill>
            <a:srgbClr val="F0424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14"/>
          <p:cNvSpPr txBox="1"/>
          <p:nvPr/>
        </p:nvSpPr>
        <p:spPr>
          <a:xfrm>
            <a:off x="1828800" y="2170683"/>
            <a:ext cx="62179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04242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3  </a:t>
            </a:r>
            <a:r>
              <a:rPr>
                <a:solidFill>
                  <a:srgbClr val="FFFFFF"/>
                </a:solidFill>
              </a:rPr>
              <a:t>Context, scope &amp; planning</a:t>
            </a:r>
          </a:p>
        </p:txBody>
      </p:sp>
      <p:sp>
        <p:nvSpPr>
          <p:cNvPr id="44" name="Text 15"/>
          <p:cNvSpPr txBox="1"/>
          <p:nvPr/>
        </p:nvSpPr>
        <p:spPr>
          <a:xfrm>
            <a:off x="475487" y="2511551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12:15</a:t>
            </a:r>
          </a:p>
        </p:txBody>
      </p:sp>
      <p:sp>
        <p:nvSpPr>
          <p:cNvPr id="45" name="Shape 16"/>
          <p:cNvSpPr/>
          <p:nvPr/>
        </p:nvSpPr>
        <p:spPr>
          <a:xfrm>
            <a:off x="1531619" y="2546604"/>
            <a:ext cx="82297" cy="82297"/>
          </a:xfrm>
          <a:prstGeom prst="ellipse">
            <a:avLst/>
          </a:prstGeom>
          <a:solidFill>
            <a:srgbClr val="000000"/>
          </a:solidFill>
          <a:ln w="12700">
            <a:solidFill>
              <a:srgbClr val="5A5A5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7"/>
          <p:cNvSpPr txBox="1"/>
          <p:nvPr/>
        </p:nvSpPr>
        <p:spPr>
          <a:xfrm>
            <a:off x="1828800" y="2517901"/>
            <a:ext cx="62179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Lunch</a:t>
            </a:r>
          </a:p>
        </p:txBody>
      </p:sp>
      <p:sp>
        <p:nvSpPr>
          <p:cNvPr id="47" name="Text 18"/>
          <p:cNvSpPr txBox="1"/>
          <p:nvPr/>
        </p:nvSpPr>
        <p:spPr>
          <a:xfrm>
            <a:off x="475487" y="2827019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13:15</a:t>
            </a:r>
          </a:p>
        </p:txBody>
      </p:sp>
      <p:sp>
        <p:nvSpPr>
          <p:cNvPr id="48" name="Shape 19"/>
          <p:cNvSpPr/>
          <p:nvPr/>
        </p:nvSpPr>
        <p:spPr>
          <a:xfrm>
            <a:off x="1508760" y="2839211"/>
            <a:ext cx="128017" cy="128017"/>
          </a:xfrm>
          <a:prstGeom prst="ellipse">
            <a:avLst/>
          </a:prstGeom>
          <a:solidFill>
            <a:srgbClr val="F0424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Text 20"/>
          <p:cNvSpPr txBox="1"/>
          <p:nvPr/>
        </p:nvSpPr>
        <p:spPr>
          <a:xfrm>
            <a:off x="1828800" y="2801619"/>
            <a:ext cx="62179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04242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4  </a:t>
            </a:r>
            <a:r>
              <a:rPr>
                <a:solidFill>
                  <a:srgbClr val="FFFFFF"/>
                </a:solidFill>
              </a:rPr>
              <a:t>Skills — automate yourself</a:t>
            </a:r>
          </a:p>
        </p:txBody>
      </p:sp>
      <p:sp>
        <p:nvSpPr>
          <p:cNvPr id="50" name="Text 21"/>
          <p:cNvSpPr txBox="1"/>
          <p:nvPr/>
        </p:nvSpPr>
        <p:spPr>
          <a:xfrm>
            <a:off x="475487" y="3142487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14:45</a:t>
            </a:r>
          </a:p>
        </p:txBody>
      </p:sp>
      <p:sp>
        <p:nvSpPr>
          <p:cNvPr id="51" name="Shape 22"/>
          <p:cNvSpPr/>
          <p:nvPr/>
        </p:nvSpPr>
        <p:spPr>
          <a:xfrm>
            <a:off x="1531619" y="3177539"/>
            <a:ext cx="82297" cy="82297"/>
          </a:xfrm>
          <a:prstGeom prst="ellipse">
            <a:avLst/>
          </a:prstGeom>
          <a:solidFill>
            <a:srgbClr val="000000"/>
          </a:solidFill>
          <a:ln w="12700">
            <a:solidFill>
              <a:srgbClr val="5A5A5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2" name="Text 23"/>
          <p:cNvSpPr txBox="1"/>
          <p:nvPr/>
        </p:nvSpPr>
        <p:spPr>
          <a:xfrm>
            <a:off x="1828800" y="3148837"/>
            <a:ext cx="62179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Break</a:t>
            </a:r>
          </a:p>
        </p:txBody>
      </p:sp>
      <p:sp>
        <p:nvSpPr>
          <p:cNvPr id="53" name="Text 24"/>
          <p:cNvSpPr txBox="1"/>
          <p:nvPr/>
        </p:nvSpPr>
        <p:spPr>
          <a:xfrm>
            <a:off x="475487" y="3457955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15:00</a:t>
            </a:r>
          </a:p>
        </p:txBody>
      </p:sp>
      <p:sp>
        <p:nvSpPr>
          <p:cNvPr id="54" name="Shape 25"/>
          <p:cNvSpPr/>
          <p:nvPr/>
        </p:nvSpPr>
        <p:spPr>
          <a:xfrm>
            <a:off x="1508760" y="3470147"/>
            <a:ext cx="128017" cy="128017"/>
          </a:xfrm>
          <a:prstGeom prst="ellipse">
            <a:avLst/>
          </a:prstGeom>
          <a:solidFill>
            <a:srgbClr val="F0424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" name="Text 26"/>
          <p:cNvSpPr txBox="1"/>
          <p:nvPr/>
        </p:nvSpPr>
        <p:spPr>
          <a:xfrm>
            <a:off x="1828800" y="3432555"/>
            <a:ext cx="62179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04242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5  </a:t>
            </a:r>
            <a:r>
              <a:rPr>
                <a:solidFill>
                  <a:srgbClr val="FFFFFF"/>
                </a:solidFill>
              </a:rPr>
              <a:t>From writer to reviewer</a:t>
            </a:r>
          </a:p>
        </p:txBody>
      </p:sp>
      <p:sp>
        <p:nvSpPr>
          <p:cNvPr id="56" name="Text 27"/>
          <p:cNvSpPr txBox="1"/>
          <p:nvPr/>
        </p:nvSpPr>
        <p:spPr>
          <a:xfrm>
            <a:off x="475487" y="3773423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15:45</a:t>
            </a:r>
          </a:p>
        </p:txBody>
      </p:sp>
      <p:sp>
        <p:nvSpPr>
          <p:cNvPr id="57" name="Shape 28"/>
          <p:cNvSpPr/>
          <p:nvPr/>
        </p:nvSpPr>
        <p:spPr>
          <a:xfrm>
            <a:off x="1508760" y="3785615"/>
            <a:ext cx="128017" cy="128017"/>
          </a:xfrm>
          <a:prstGeom prst="ellipse">
            <a:avLst/>
          </a:prstGeom>
          <a:solidFill>
            <a:srgbClr val="F0424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Text 29"/>
          <p:cNvSpPr txBox="1"/>
          <p:nvPr/>
        </p:nvSpPr>
        <p:spPr>
          <a:xfrm>
            <a:off x="1828800" y="3748023"/>
            <a:ext cx="62179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04242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6  </a:t>
            </a:r>
            <a:r>
              <a:rPr>
                <a:solidFill>
                  <a:srgbClr val="FFFFFF"/>
                </a:solidFill>
              </a:rPr>
              <a:t>Power tools</a:t>
            </a:r>
          </a:p>
        </p:txBody>
      </p:sp>
      <p:sp>
        <p:nvSpPr>
          <p:cNvPr id="59" name="Text 30"/>
          <p:cNvSpPr txBox="1"/>
          <p:nvPr/>
        </p:nvSpPr>
        <p:spPr>
          <a:xfrm>
            <a:off x="475487" y="4088891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16:30</a:t>
            </a:r>
          </a:p>
        </p:txBody>
      </p:sp>
      <p:sp>
        <p:nvSpPr>
          <p:cNvPr id="60" name="Shape 31"/>
          <p:cNvSpPr/>
          <p:nvPr/>
        </p:nvSpPr>
        <p:spPr>
          <a:xfrm>
            <a:off x="1508760" y="4101084"/>
            <a:ext cx="128017" cy="128017"/>
          </a:xfrm>
          <a:prstGeom prst="ellipse">
            <a:avLst/>
          </a:prstGeom>
          <a:solidFill>
            <a:srgbClr val="F0424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32"/>
          <p:cNvSpPr txBox="1"/>
          <p:nvPr/>
        </p:nvSpPr>
        <p:spPr>
          <a:xfrm>
            <a:off x="1828800" y="4063491"/>
            <a:ext cx="621792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F04242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7  </a:t>
            </a:r>
            <a:r>
              <a:rPr>
                <a:solidFill>
                  <a:srgbClr val="FFFFFF"/>
                </a:solidFill>
              </a:rPr>
              <a:t>Keep getting better</a:t>
            </a:r>
          </a:p>
        </p:txBody>
      </p:sp>
      <p:sp>
        <p:nvSpPr>
          <p:cNvPr id="62" name="Text 33"/>
          <p:cNvSpPr txBox="1"/>
          <p:nvPr/>
        </p:nvSpPr>
        <p:spPr>
          <a:xfrm>
            <a:off x="475487" y="4404359"/>
            <a:ext cx="914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0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17:15</a:t>
            </a:r>
          </a:p>
        </p:txBody>
      </p:sp>
      <p:sp>
        <p:nvSpPr>
          <p:cNvPr id="63" name="Shape 34"/>
          <p:cNvSpPr/>
          <p:nvPr/>
        </p:nvSpPr>
        <p:spPr>
          <a:xfrm>
            <a:off x="1531619" y="4439411"/>
            <a:ext cx="82297" cy="82297"/>
          </a:xfrm>
          <a:prstGeom prst="ellipse">
            <a:avLst/>
          </a:prstGeom>
          <a:solidFill>
            <a:srgbClr val="000000"/>
          </a:solidFill>
          <a:ln w="12700">
            <a:solidFill>
              <a:srgbClr val="5A5A5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35"/>
          <p:cNvSpPr txBox="1"/>
          <p:nvPr/>
        </p:nvSpPr>
        <p:spPr>
          <a:xfrm>
            <a:off x="1828800" y="4410709"/>
            <a:ext cx="621792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Wrap-up</a:t>
            </a:r>
          </a:p>
        </p:txBody>
      </p:sp>
      <p:pic>
        <p:nvPicPr>
          <p:cNvPr id="65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Text 36"/>
          <p:cNvSpPr txBox="1"/>
          <p:nvPr/>
        </p:nvSpPr>
        <p:spPr>
          <a:xfrm>
            <a:off x="304495" y="4846828"/>
            <a:ext cx="42623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67" name="Text 37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02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ext 0"/>
          <p:cNvSpPr txBox="1"/>
          <p:nvPr/>
        </p:nvSpPr>
        <p:spPr>
          <a:xfrm>
            <a:off x="475487" y="1521205"/>
            <a:ext cx="7315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F0424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01 · 09:00</a:t>
            </a:r>
          </a:p>
        </p:txBody>
      </p:sp>
      <p:sp>
        <p:nvSpPr>
          <p:cNvPr id="72" name="Text 1"/>
          <p:cNvSpPr txBox="1"/>
          <p:nvPr/>
        </p:nvSpPr>
        <p:spPr>
          <a:xfrm>
            <a:off x="475488" y="1974849"/>
            <a:ext cx="81381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From chatting to delegating</a:t>
            </a:r>
          </a:p>
        </p:txBody>
      </p:sp>
      <p:sp>
        <p:nvSpPr>
          <p:cNvPr id="73" name="Text 2"/>
          <p:cNvSpPr txBox="1"/>
          <p:nvPr/>
        </p:nvSpPr>
        <p:spPr>
          <a:xfrm>
            <a:off x="475487" y="2837180"/>
            <a:ext cx="74980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FBFB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What changes when the model has hands — and why copy-paste is the most expensive way to use an LLM.</a:t>
            </a:r>
          </a:p>
        </p:txBody>
      </p:sp>
      <p:pic>
        <p:nvPicPr>
          <p:cNvPr id="74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Text 3"/>
          <p:cNvSpPr txBox="1"/>
          <p:nvPr/>
        </p:nvSpPr>
        <p:spPr>
          <a:xfrm>
            <a:off x="304495" y="4846828"/>
            <a:ext cx="8358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01 · 09:00</a:t>
            </a:r>
          </a:p>
        </p:txBody>
      </p:sp>
      <p:sp>
        <p:nvSpPr>
          <p:cNvPr id="76" name="Text 4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03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01 · HOW AN LLM WORKS</a:t>
            </a:r>
          </a:p>
        </p:txBody>
      </p:sp>
      <p:sp>
        <p:nvSpPr>
          <p:cNvPr id="81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It only ever predicts the next token</a:t>
            </a:r>
          </a:p>
        </p:txBody>
      </p:sp>
      <p:sp>
        <p:nvSpPr>
          <p:cNvPr id="82" name="Shape 2"/>
          <p:cNvSpPr/>
          <p:nvPr/>
        </p:nvSpPr>
        <p:spPr>
          <a:xfrm>
            <a:off x="457200" y="1234439"/>
            <a:ext cx="2651761" cy="233172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3"/>
          <p:cNvSpPr/>
          <p:nvPr/>
        </p:nvSpPr>
        <p:spPr>
          <a:xfrm>
            <a:off x="658368" y="1435608"/>
            <a:ext cx="310896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Text 4"/>
          <p:cNvSpPr txBox="1"/>
          <p:nvPr/>
        </p:nvSpPr>
        <p:spPr>
          <a:xfrm>
            <a:off x="658368" y="1499361"/>
            <a:ext cx="31089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5" name="Text 5"/>
          <p:cNvSpPr txBox="1"/>
          <p:nvPr/>
        </p:nvSpPr>
        <p:spPr>
          <a:xfrm>
            <a:off x="658368" y="1910080"/>
            <a:ext cx="22402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One token at a time</a:t>
            </a:r>
          </a:p>
        </p:txBody>
      </p:sp>
      <p:sp>
        <p:nvSpPr>
          <p:cNvPr id="86" name="Text 6"/>
          <p:cNvSpPr txBox="1"/>
          <p:nvPr/>
        </p:nvSpPr>
        <p:spPr>
          <a:xfrm>
            <a:off x="658368" y="2176272"/>
            <a:ext cx="224028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Generates text one token — roughly ¾ of a word — at a time, each predicted from all the text before it. That is all it ever does, just very fast.</a:t>
            </a:r>
          </a:p>
        </p:txBody>
      </p:sp>
      <p:sp>
        <p:nvSpPr>
          <p:cNvPr id="87" name="Shape 7"/>
          <p:cNvSpPr/>
          <p:nvPr/>
        </p:nvSpPr>
        <p:spPr>
          <a:xfrm>
            <a:off x="3246120" y="1234439"/>
            <a:ext cx="2651761" cy="233172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8" name="Shape 8"/>
          <p:cNvSpPr/>
          <p:nvPr/>
        </p:nvSpPr>
        <p:spPr>
          <a:xfrm>
            <a:off x="3447288" y="1435608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9"/>
          <p:cNvSpPr txBox="1"/>
          <p:nvPr/>
        </p:nvSpPr>
        <p:spPr>
          <a:xfrm>
            <a:off x="3447288" y="1499361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0" name="Text 10"/>
          <p:cNvSpPr txBox="1"/>
          <p:nvPr/>
        </p:nvSpPr>
        <p:spPr>
          <a:xfrm>
            <a:off x="3447288" y="1910080"/>
            <a:ext cx="22402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Stateless by design</a:t>
            </a:r>
          </a:p>
        </p:txBody>
      </p:sp>
      <p:sp>
        <p:nvSpPr>
          <p:cNvPr id="91" name="Text 11"/>
          <p:cNvSpPr txBox="1"/>
          <p:nvPr/>
        </p:nvSpPr>
        <p:spPr>
          <a:xfrm>
            <a:off x="3447288" y="2176272"/>
            <a:ext cx="224028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Nothing persists between calls. Every turn re-sends the entire conversation — "memory" is just replaying the transcript back to the model.</a:t>
            </a:r>
          </a:p>
        </p:txBody>
      </p:sp>
      <p:sp>
        <p:nvSpPr>
          <p:cNvPr id="92" name="Shape 12"/>
          <p:cNvSpPr/>
          <p:nvPr/>
        </p:nvSpPr>
        <p:spPr>
          <a:xfrm>
            <a:off x="6035040" y="1234439"/>
            <a:ext cx="2651761" cy="233172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3" name="Shape 13"/>
          <p:cNvSpPr/>
          <p:nvPr/>
        </p:nvSpPr>
        <p:spPr>
          <a:xfrm>
            <a:off x="6236208" y="1435608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4" name="Text 14"/>
          <p:cNvSpPr txBox="1"/>
          <p:nvPr/>
        </p:nvSpPr>
        <p:spPr>
          <a:xfrm>
            <a:off x="6236208" y="1499361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5" name="Text 15"/>
          <p:cNvSpPr txBox="1"/>
          <p:nvPr/>
        </p:nvSpPr>
        <p:spPr>
          <a:xfrm>
            <a:off x="6236208" y="1910080"/>
            <a:ext cx="22402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The system prompt</a:t>
            </a:r>
          </a:p>
        </p:txBody>
      </p:sp>
      <p:sp>
        <p:nvSpPr>
          <p:cNvPr id="96" name="Text 16"/>
          <p:cNvSpPr txBox="1"/>
          <p:nvPr/>
        </p:nvSpPr>
        <p:spPr>
          <a:xfrm>
            <a:off x="6236208" y="2176272"/>
            <a:ext cx="224028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Standing instructions prepended before anything you type: role, rules, tool definitions, CLAUDE.md. Invisible in the UI, but it shapes every answer.</a:t>
            </a:r>
          </a:p>
        </p:txBody>
      </p:sp>
      <p:sp>
        <p:nvSpPr>
          <p:cNvPr id="97" name="Text 17"/>
          <p:cNvSpPr txBox="1"/>
          <p:nvPr/>
        </p:nvSpPr>
        <p:spPr>
          <a:xfrm>
            <a:off x="658367" y="3959859"/>
            <a:ext cx="786384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Text in, text out — nothing else.  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Everything the model knows about your task is text that you — or your tooling — put in front of it.</a:t>
            </a:r>
          </a:p>
        </p:txBody>
      </p:sp>
      <p:sp>
        <p:nvSpPr>
          <p:cNvPr id="98" name="Shape 18"/>
          <p:cNvSpPr/>
          <p:nvPr/>
        </p:nvSpPr>
        <p:spPr>
          <a:xfrm>
            <a:off x="457200" y="3886200"/>
            <a:ext cx="25604" cy="502920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99" name="Image 0" descr="Image 0"/>
          <p:cNvPicPr>
            <a:picLocks noChangeAspect="1"/>
          </p:cNvPicPr>
          <p:nvPr/>
        </p:nvPicPr>
        <p:blipFill>
          <a:blip r:embed="rId2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 19"/>
          <p:cNvSpPr txBox="1"/>
          <p:nvPr/>
        </p:nvSpPr>
        <p:spPr>
          <a:xfrm>
            <a:off x="304495" y="4846828"/>
            <a:ext cx="1654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FROM CHATTING TO DELEGATING</a:t>
            </a:r>
          </a:p>
        </p:txBody>
      </p:sp>
      <p:sp>
        <p:nvSpPr>
          <p:cNvPr id="101" name="Text 20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04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01 · THE CONTEXT WINDOW</a:t>
            </a:r>
          </a:p>
        </p:txBody>
      </p:sp>
      <p:sp>
        <p:nvSpPr>
          <p:cNvPr id="104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The context window: all it knows, every turn</a:t>
            </a:r>
          </a:p>
        </p:txBody>
      </p:sp>
      <p:sp>
        <p:nvSpPr>
          <p:cNvPr id="105" name="Shape 2"/>
          <p:cNvSpPr/>
          <p:nvPr/>
        </p:nvSpPr>
        <p:spPr>
          <a:xfrm>
            <a:off x="457200" y="1234439"/>
            <a:ext cx="3200400" cy="233172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Text 2a"/>
          <p:cNvSpPr txBox="1"/>
          <p:nvPr/>
        </p:nvSpPr>
        <p:spPr>
          <a:xfrm>
            <a:off x="634998" y="1353819"/>
            <a:ext cx="28448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8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WHAT THE MODEL SEES EACH TURN</a:t>
            </a:r>
          </a:p>
        </p:txBody>
      </p:sp>
      <p:grpSp>
        <p:nvGrpSpPr>
          <p:cNvPr id="109" name="Layer 1"/>
          <p:cNvGrpSpPr/>
          <p:nvPr/>
        </p:nvGrpSpPr>
        <p:grpSpPr>
          <a:xfrm>
            <a:off x="634998" y="1560000"/>
            <a:ext cx="2844804" cy="260001"/>
            <a:chOff x="0" y="0"/>
            <a:chExt cx="2844802" cy="259999"/>
          </a:xfrm>
        </p:grpSpPr>
        <p:sp>
          <p:nvSpPr>
            <p:cNvPr id="107" name="Rectangle"/>
            <p:cNvSpPr/>
            <p:nvPr/>
          </p:nvSpPr>
          <p:spPr>
            <a:xfrm>
              <a:off x="-1" y="0"/>
              <a:ext cx="2844804" cy="260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E5E5E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900"/>
              </a:pPr>
            </a:p>
          </p:txBody>
        </p:sp>
        <p:sp>
          <p:nvSpPr>
            <p:cNvPr id="108" name="System prompt · tool definitions"/>
            <p:cNvSpPr txBox="1"/>
            <p:nvPr/>
          </p:nvSpPr>
          <p:spPr>
            <a:xfrm>
              <a:off x="97789" y="60149"/>
              <a:ext cx="2649224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900">
                  <a:solidFill>
                    <a:srgbClr val="111111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System prompt · tool definitions</a:t>
              </a:r>
            </a:p>
          </p:txBody>
        </p:sp>
      </p:grpSp>
      <p:grpSp>
        <p:nvGrpSpPr>
          <p:cNvPr id="112" name="Layer 2"/>
          <p:cNvGrpSpPr/>
          <p:nvPr/>
        </p:nvGrpSpPr>
        <p:grpSpPr>
          <a:xfrm>
            <a:off x="634998" y="1860000"/>
            <a:ext cx="2844804" cy="260001"/>
            <a:chOff x="0" y="0"/>
            <a:chExt cx="2844802" cy="259999"/>
          </a:xfrm>
        </p:grpSpPr>
        <p:sp>
          <p:nvSpPr>
            <p:cNvPr id="110" name="Rectangle"/>
            <p:cNvSpPr/>
            <p:nvPr/>
          </p:nvSpPr>
          <p:spPr>
            <a:xfrm>
              <a:off x="-1" y="0"/>
              <a:ext cx="2844804" cy="260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E5E5E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900"/>
              </a:pPr>
            </a:p>
          </p:txBody>
        </p:sp>
        <p:sp>
          <p:nvSpPr>
            <p:cNvPr id="111" name="CLAUDE.md — standing instructions"/>
            <p:cNvSpPr txBox="1"/>
            <p:nvPr/>
          </p:nvSpPr>
          <p:spPr>
            <a:xfrm>
              <a:off x="97789" y="60149"/>
              <a:ext cx="2649224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900">
                  <a:solidFill>
                    <a:srgbClr val="111111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CLAUDE.md — standing instructions</a:t>
              </a:r>
            </a:p>
          </p:txBody>
        </p:sp>
      </p:grpSp>
      <p:grpSp>
        <p:nvGrpSpPr>
          <p:cNvPr id="115" name="Layer 3"/>
          <p:cNvGrpSpPr/>
          <p:nvPr/>
        </p:nvGrpSpPr>
        <p:grpSpPr>
          <a:xfrm>
            <a:off x="634998" y="2159999"/>
            <a:ext cx="2844804" cy="450001"/>
            <a:chOff x="0" y="0"/>
            <a:chExt cx="2844802" cy="450000"/>
          </a:xfrm>
        </p:grpSpPr>
        <p:sp>
          <p:nvSpPr>
            <p:cNvPr id="113" name="Rectangle"/>
            <p:cNvSpPr/>
            <p:nvPr/>
          </p:nvSpPr>
          <p:spPr>
            <a:xfrm>
              <a:off x="-1" y="-1"/>
              <a:ext cx="2844804" cy="4500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E5E5E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900"/>
              </a:pPr>
            </a:p>
          </p:txBody>
        </p:sp>
        <p:sp>
          <p:nvSpPr>
            <p:cNvPr id="114" name="Conversation so far — every message, every answer"/>
            <p:cNvSpPr txBox="1"/>
            <p:nvPr/>
          </p:nvSpPr>
          <p:spPr>
            <a:xfrm>
              <a:off x="97789" y="85299"/>
              <a:ext cx="2649224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900">
                  <a:solidFill>
                    <a:srgbClr val="111111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Conversation so far — every message, every answer</a:t>
              </a:r>
            </a:p>
          </p:txBody>
        </p:sp>
      </p:grpSp>
      <p:grpSp>
        <p:nvGrpSpPr>
          <p:cNvPr id="118" name="Layer 4"/>
          <p:cNvGrpSpPr/>
          <p:nvPr/>
        </p:nvGrpSpPr>
        <p:grpSpPr>
          <a:xfrm>
            <a:off x="634998" y="2650000"/>
            <a:ext cx="2844804" cy="450001"/>
            <a:chOff x="0" y="0"/>
            <a:chExt cx="2844802" cy="450000"/>
          </a:xfrm>
        </p:grpSpPr>
        <p:sp>
          <p:nvSpPr>
            <p:cNvPr id="116" name="Rectangle"/>
            <p:cNvSpPr/>
            <p:nvPr/>
          </p:nvSpPr>
          <p:spPr>
            <a:xfrm>
              <a:off x="-1" y="-1"/>
              <a:ext cx="2844804" cy="450002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E5E5E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900"/>
              </a:pPr>
            </a:p>
          </p:txBody>
        </p:sp>
        <p:sp>
          <p:nvSpPr>
            <p:cNvPr id="117" name="Files read · command output · diffs"/>
            <p:cNvSpPr txBox="1"/>
            <p:nvPr/>
          </p:nvSpPr>
          <p:spPr>
            <a:xfrm>
              <a:off x="97789" y="155149"/>
              <a:ext cx="2649224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900">
                  <a:solidFill>
                    <a:srgbClr val="111111"/>
                  </a:solidFill>
                  <a:latin typeface="Aptos"/>
                  <a:ea typeface="Aptos"/>
                  <a:cs typeface="Aptos"/>
                  <a:sym typeface="Aptos"/>
                </a:defRPr>
              </a:lvl1pPr>
            </a:lstStyle>
            <a:p>
              <a:pPr/>
              <a:r>
                <a:t>Files read · command output · diffs</a:t>
              </a:r>
            </a:p>
          </p:txBody>
        </p:sp>
      </p:grpSp>
      <p:grpSp>
        <p:nvGrpSpPr>
          <p:cNvPr id="121" name="Layer 5"/>
          <p:cNvGrpSpPr/>
          <p:nvPr/>
        </p:nvGrpSpPr>
        <p:grpSpPr>
          <a:xfrm>
            <a:off x="634998" y="3140000"/>
            <a:ext cx="2844804" cy="260001"/>
            <a:chOff x="0" y="0"/>
            <a:chExt cx="2844802" cy="259999"/>
          </a:xfrm>
        </p:grpSpPr>
        <p:sp>
          <p:nvSpPr>
            <p:cNvPr id="119" name="Rectangle"/>
            <p:cNvSpPr/>
            <p:nvPr/>
          </p:nvSpPr>
          <p:spPr>
            <a:xfrm>
              <a:off x="-1" y="0"/>
              <a:ext cx="2844804" cy="260000"/>
            </a:xfrm>
            <a:prstGeom prst="rect">
              <a:avLst/>
            </a:prstGeom>
            <a:solidFill>
              <a:srgbClr val="FFFFFF"/>
            </a:solidFill>
            <a:ln w="12700" cap="flat">
              <a:solidFill>
                <a:srgbClr val="E5E5E5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900"/>
              </a:pPr>
            </a:p>
          </p:txBody>
        </p:sp>
        <p:sp>
          <p:nvSpPr>
            <p:cNvPr id="120" name="Your next message"/>
            <p:cNvSpPr txBox="1"/>
            <p:nvPr/>
          </p:nvSpPr>
          <p:spPr>
            <a:xfrm>
              <a:off x="97789" y="60149"/>
              <a:ext cx="2649224" cy="139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900">
                  <a:solidFill>
                    <a:srgbClr val="111111"/>
                  </a:solidFill>
                  <a:latin typeface="Aptos ExtraBold"/>
                  <a:ea typeface="Aptos ExtraBold"/>
                  <a:cs typeface="Aptos ExtraBold"/>
                  <a:sym typeface="Aptos ExtraBold"/>
                </a:defRPr>
              </a:lvl1pPr>
            </a:lstStyle>
            <a:p>
              <a:pPr/>
              <a:r>
                <a:t>Your next message</a:t>
              </a:r>
            </a:p>
          </p:txBody>
        </p:sp>
      </p:grpSp>
      <p:sp>
        <p:nvSpPr>
          <p:cNvPr id="122" name="Text 2g"/>
          <p:cNvSpPr txBox="1"/>
          <p:nvPr/>
        </p:nvSpPr>
        <p:spPr>
          <a:xfrm>
            <a:off x="634998" y="3429499"/>
            <a:ext cx="284480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50" sz="700">
                <a:solidFill>
                  <a:srgbClr val="8C8C8C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ONE FIXED TOKEN BUDGET FOR ALL OF IT</a:t>
            </a:r>
          </a:p>
        </p:txBody>
      </p:sp>
      <p:sp>
        <p:nvSpPr>
          <p:cNvPr id="123" name="Text 3a"/>
          <p:cNvSpPr txBox="1"/>
          <p:nvPr/>
        </p:nvSpPr>
        <p:spPr>
          <a:xfrm>
            <a:off x="3886200" y="1271890"/>
            <a:ext cx="4800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You pay for the whole window, every turn</a:t>
            </a:r>
          </a:p>
        </p:txBody>
      </p:sp>
      <p:sp>
        <p:nvSpPr>
          <p:cNvPr id="124" name="Text 3b"/>
          <p:cNvSpPr txBox="1"/>
          <p:nvPr/>
        </p:nvSpPr>
        <p:spPr>
          <a:xfrm>
            <a:off x="3886200" y="1509999"/>
            <a:ext cx="480060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Each reply re-processes everything in the window. Cost and latency scale with its size — not with the size of your question.</a:t>
            </a:r>
          </a:p>
        </p:txBody>
      </p:sp>
      <p:sp>
        <p:nvSpPr>
          <p:cNvPr id="125" name="Text 4a"/>
          <p:cNvSpPr txBox="1"/>
          <p:nvPr/>
        </p:nvSpPr>
        <p:spPr>
          <a:xfrm>
            <a:off x="3886200" y="2131890"/>
            <a:ext cx="4800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Relevance beats volume</a:t>
            </a:r>
          </a:p>
        </p:txBody>
      </p:sp>
      <p:sp>
        <p:nvSpPr>
          <p:cNvPr id="126" name="Text 4b"/>
          <p:cNvSpPr txBox="1"/>
          <p:nvPr/>
        </p:nvSpPr>
        <p:spPr>
          <a:xfrm>
            <a:off x="3886200" y="2369999"/>
            <a:ext cx="4800600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The model attends to everything it sees. Irrelevant files, stale chat and pasted dumps dilute the signal — answers drift, quality drops.</a:t>
            </a:r>
          </a:p>
        </p:txBody>
      </p:sp>
      <p:sp>
        <p:nvSpPr>
          <p:cNvPr id="127" name="Text 5a"/>
          <p:cNvSpPr txBox="1"/>
          <p:nvPr/>
        </p:nvSpPr>
        <p:spPr>
          <a:xfrm>
            <a:off x="3886200" y="2991890"/>
            <a:ext cx="480060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It runs out</a:t>
            </a:r>
          </a:p>
        </p:txBody>
      </p:sp>
      <p:sp>
        <p:nvSpPr>
          <p:cNvPr id="128" name="Text 5b"/>
          <p:cNvSpPr txBox="1"/>
          <p:nvPr/>
        </p:nvSpPr>
        <p:spPr>
          <a:xfrm>
            <a:off x="3886200" y="3229999"/>
            <a:ext cx="4800600" cy="351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Long sessions fill the window, and quality degrades before the hard limit. Block 3 covers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/clear</a:t>
            </a:r>
            <a:r>
              <a:t> and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/compact</a:t>
            </a:r>
            <a:r>
              <a:t> to manage it.</a:t>
            </a:r>
          </a:p>
        </p:txBody>
      </p:sp>
      <p:sp>
        <p:nvSpPr>
          <p:cNvPr id="129" name="Text 17"/>
          <p:cNvSpPr txBox="1"/>
          <p:nvPr/>
        </p:nvSpPr>
        <p:spPr>
          <a:xfrm>
            <a:off x="658367" y="3959859"/>
            <a:ext cx="786384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Small, relevant context = better, faster, cheaper.  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Every technique you learn today is, underneath, a way of managing this window.</a:t>
            </a:r>
          </a:p>
        </p:txBody>
      </p:sp>
      <p:sp>
        <p:nvSpPr>
          <p:cNvPr id="130" name="Shape 18"/>
          <p:cNvSpPr/>
          <p:nvPr/>
        </p:nvSpPr>
        <p:spPr>
          <a:xfrm>
            <a:off x="457200" y="3886200"/>
            <a:ext cx="25604" cy="502920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31" name="Image 0" descr="Image 0"/>
          <p:cNvPicPr>
            <a:picLocks noChangeAspect="1"/>
          </p:cNvPicPr>
          <p:nvPr/>
        </p:nvPicPr>
        <p:blipFill>
          <a:blip r:embed="rId2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Text 19"/>
          <p:cNvSpPr txBox="1"/>
          <p:nvPr/>
        </p:nvSpPr>
        <p:spPr>
          <a:xfrm>
            <a:off x="304495" y="4846828"/>
            <a:ext cx="1654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FROM CHATTING TO DELEGATING</a:t>
            </a:r>
          </a:p>
        </p:txBody>
      </p:sp>
      <p:sp>
        <p:nvSpPr>
          <p:cNvPr id="133" name="Text 20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05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01 · MENTAL MODEL</a:t>
            </a:r>
          </a:p>
        </p:txBody>
      </p:sp>
      <p:sp>
        <p:nvSpPr>
          <p:cNvPr id="136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The agent doesn't just answer — it acts</a:t>
            </a:r>
          </a:p>
        </p:txBody>
      </p:sp>
      <p:sp>
        <p:nvSpPr>
          <p:cNvPr id="137" name="Shape 2"/>
          <p:cNvSpPr/>
          <p:nvPr/>
        </p:nvSpPr>
        <p:spPr>
          <a:xfrm>
            <a:off x="457200" y="1234439"/>
            <a:ext cx="2651761" cy="233172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8" name="Shape 3"/>
          <p:cNvSpPr/>
          <p:nvPr/>
        </p:nvSpPr>
        <p:spPr>
          <a:xfrm>
            <a:off x="658368" y="1435608"/>
            <a:ext cx="310896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4"/>
          <p:cNvSpPr txBox="1"/>
          <p:nvPr/>
        </p:nvSpPr>
        <p:spPr>
          <a:xfrm>
            <a:off x="658368" y="1499361"/>
            <a:ext cx="31089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40" name="Text 5"/>
          <p:cNvSpPr txBox="1"/>
          <p:nvPr/>
        </p:nvSpPr>
        <p:spPr>
          <a:xfrm>
            <a:off x="658368" y="1910080"/>
            <a:ext cx="22402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Reads &amp; explores</a:t>
            </a:r>
          </a:p>
        </p:txBody>
      </p:sp>
      <p:sp>
        <p:nvSpPr>
          <p:cNvPr id="141" name="Text 6"/>
          <p:cNvSpPr txBox="1"/>
          <p:nvPr/>
        </p:nvSpPr>
        <p:spPr>
          <a:xfrm>
            <a:off x="658368" y="2176272"/>
            <a:ext cx="224028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Navigates your repo itself: files, structure, git history. No more pasting snippets — it fetches its own context, exactly what it needs.</a:t>
            </a:r>
          </a:p>
        </p:txBody>
      </p:sp>
      <p:sp>
        <p:nvSpPr>
          <p:cNvPr id="142" name="Shape 7"/>
          <p:cNvSpPr/>
          <p:nvPr/>
        </p:nvSpPr>
        <p:spPr>
          <a:xfrm>
            <a:off x="3246120" y="1234439"/>
            <a:ext cx="2651761" cy="233172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Shape 8"/>
          <p:cNvSpPr/>
          <p:nvPr/>
        </p:nvSpPr>
        <p:spPr>
          <a:xfrm>
            <a:off x="3447288" y="1435608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9"/>
          <p:cNvSpPr txBox="1"/>
          <p:nvPr/>
        </p:nvSpPr>
        <p:spPr>
          <a:xfrm>
            <a:off x="3447288" y="1499361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45" name="Text 10"/>
          <p:cNvSpPr txBox="1"/>
          <p:nvPr/>
        </p:nvSpPr>
        <p:spPr>
          <a:xfrm>
            <a:off x="3447288" y="1910080"/>
            <a:ext cx="22402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Edits &amp; creates</a:t>
            </a:r>
          </a:p>
        </p:txBody>
      </p:sp>
      <p:sp>
        <p:nvSpPr>
          <p:cNvPr id="146" name="Text 11"/>
          <p:cNvSpPr txBox="1"/>
          <p:nvPr/>
        </p:nvSpPr>
        <p:spPr>
          <a:xfrm>
            <a:off x="3447288" y="2176272"/>
            <a:ext cx="224028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Changes files in place, across the codebase. You review diffs instead of copy-pasting blocks and hand-stitching them together.</a:t>
            </a:r>
          </a:p>
        </p:txBody>
      </p:sp>
      <p:sp>
        <p:nvSpPr>
          <p:cNvPr id="147" name="Shape 12"/>
          <p:cNvSpPr/>
          <p:nvPr/>
        </p:nvSpPr>
        <p:spPr>
          <a:xfrm>
            <a:off x="6035040" y="1234439"/>
            <a:ext cx="2651761" cy="233172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Shape 13"/>
          <p:cNvSpPr/>
          <p:nvPr/>
        </p:nvSpPr>
        <p:spPr>
          <a:xfrm>
            <a:off x="6236208" y="1435608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14"/>
          <p:cNvSpPr txBox="1"/>
          <p:nvPr/>
        </p:nvSpPr>
        <p:spPr>
          <a:xfrm>
            <a:off x="6236208" y="1499361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50" name="Text 15"/>
          <p:cNvSpPr txBox="1"/>
          <p:nvPr/>
        </p:nvSpPr>
        <p:spPr>
          <a:xfrm>
            <a:off x="6236208" y="1910080"/>
            <a:ext cx="22402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Runs &amp; verifies</a:t>
            </a:r>
          </a:p>
        </p:txBody>
      </p:sp>
      <p:sp>
        <p:nvSpPr>
          <p:cNvPr id="151" name="Text 16"/>
          <p:cNvSpPr txBox="1"/>
          <p:nvPr/>
        </p:nvSpPr>
        <p:spPr>
          <a:xfrm>
            <a:off x="6236208" y="2176272"/>
            <a:ext cx="224028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Executes dotnet build, dotnet test, scripts. It sees its own mistakes and fixes them before you ever look.</a:t>
            </a:r>
          </a:p>
        </p:txBody>
      </p:sp>
      <p:sp>
        <p:nvSpPr>
          <p:cNvPr id="152" name="Text 17"/>
          <p:cNvSpPr txBox="1"/>
          <p:nvPr/>
        </p:nvSpPr>
        <p:spPr>
          <a:xfrm>
            <a:off x="658367" y="3959859"/>
            <a:ext cx="786384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Context window = its working memory.  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Tokens = what you pay, in money and speed. Everything today follows from these two facts.</a:t>
            </a:r>
          </a:p>
        </p:txBody>
      </p:sp>
      <p:sp>
        <p:nvSpPr>
          <p:cNvPr id="153" name="Shape 18"/>
          <p:cNvSpPr/>
          <p:nvPr/>
        </p:nvSpPr>
        <p:spPr>
          <a:xfrm>
            <a:off x="457200" y="3886200"/>
            <a:ext cx="25604" cy="502920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54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Text 19"/>
          <p:cNvSpPr txBox="1"/>
          <p:nvPr/>
        </p:nvSpPr>
        <p:spPr>
          <a:xfrm>
            <a:off x="304495" y="4846828"/>
            <a:ext cx="1654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FROM CHATTING TO DELEGATING</a:t>
            </a:r>
          </a:p>
        </p:txBody>
      </p:sp>
      <p:sp>
        <p:nvSpPr>
          <p:cNvPr id="156" name="Text 20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06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01 · INTERFACES</a:t>
            </a:r>
          </a:p>
        </p:txBody>
      </p:sp>
      <p:sp>
        <p:nvSpPr>
          <p:cNvPr id="161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Two interfaces, one engine</a:t>
            </a:r>
          </a:p>
        </p:txBody>
      </p:sp>
      <p:sp>
        <p:nvSpPr>
          <p:cNvPr id="162" name="Shape 2"/>
          <p:cNvSpPr/>
          <p:nvPr/>
        </p:nvSpPr>
        <p:spPr>
          <a:xfrm>
            <a:off x="457200" y="1234439"/>
            <a:ext cx="4041648" cy="283464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Shape 3"/>
          <p:cNvSpPr/>
          <p:nvPr/>
        </p:nvSpPr>
        <p:spPr>
          <a:xfrm>
            <a:off x="457200" y="1234439"/>
            <a:ext cx="4041648" cy="25604"/>
          </a:xfrm>
          <a:prstGeom prst="rect">
            <a:avLst/>
          </a:prstGeom>
          <a:solidFill>
            <a:srgbClr val="5959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4"/>
          <p:cNvSpPr txBox="1"/>
          <p:nvPr/>
        </p:nvSpPr>
        <p:spPr>
          <a:xfrm>
            <a:off x="676655" y="1492250"/>
            <a:ext cx="35661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Terminal (CLI)</a:t>
            </a:r>
          </a:p>
        </p:txBody>
      </p:sp>
      <p:sp>
        <p:nvSpPr>
          <p:cNvPr id="165" name="Text 5"/>
          <p:cNvSpPr txBox="1"/>
          <p:nvPr/>
        </p:nvSpPr>
        <p:spPr>
          <a:xfrm>
            <a:off x="676656" y="1828800"/>
            <a:ext cx="3602736" cy="66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Lives where your code lives — fastest feedback loop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Slash commands, scripting, hooks, CI integration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The power-user surface: everything works here</a:t>
            </a:r>
          </a:p>
        </p:txBody>
      </p:sp>
      <p:sp>
        <p:nvSpPr>
          <p:cNvPr id="166" name="Shape 6"/>
          <p:cNvSpPr/>
          <p:nvPr/>
        </p:nvSpPr>
        <p:spPr>
          <a:xfrm>
            <a:off x="4645152" y="1234439"/>
            <a:ext cx="4041648" cy="283464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Shape 7"/>
          <p:cNvSpPr/>
          <p:nvPr/>
        </p:nvSpPr>
        <p:spPr>
          <a:xfrm>
            <a:off x="4645152" y="1234439"/>
            <a:ext cx="4041648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Text 8"/>
          <p:cNvSpPr txBox="1"/>
          <p:nvPr/>
        </p:nvSpPr>
        <p:spPr>
          <a:xfrm>
            <a:off x="4864608" y="1492250"/>
            <a:ext cx="35661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Desktop app (GUI)</a:t>
            </a:r>
          </a:p>
        </p:txBody>
      </p:sp>
      <p:sp>
        <p:nvSpPr>
          <p:cNvPr id="169" name="Text 9"/>
          <p:cNvSpPr txBox="1"/>
          <p:nvPr/>
        </p:nvSpPr>
        <p:spPr>
          <a:xfrm>
            <a:off x="4864608" y="1828800"/>
            <a:ext cx="3602737" cy="66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Same agent, friendlier surface — no terminal required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Great on Windows: point it at a folder and go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Zero-friction start if the CLI feels foreign today</a:t>
            </a:r>
          </a:p>
        </p:txBody>
      </p:sp>
      <p:sp>
        <p:nvSpPr>
          <p:cNvPr id="170" name="Text 10"/>
          <p:cNvSpPr txBox="1"/>
          <p:nvPr/>
        </p:nvSpPr>
        <p:spPr>
          <a:xfrm>
            <a:off x="475487" y="4260257"/>
            <a:ext cx="8229601" cy="3400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110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Pick either — the habits transfer 1:1. Heads-up: some commands in this deck are CLI-native (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/cost</a:t>
            </a:r>
            <a:r>
              <a:t>,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/usage</a:t>
            </a:r>
            <a:r>
              <a:t>); the desktop app surfaces the same info in its UI instead.</a:t>
            </a:r>
          </a:p>
        </p:txBody>
      </p:sp>
      <p:pic>
        <p:nvPicPr>
          <p:cNvPr id="171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Text 11"/>
          <p:cNvSpPr txBox="1"/>
          <p:nvPr/>
        </p:nvSpPr>
        <p:spPr>
          <a:xfrm>
            <a:off x="304495" y="4846828"/>
            <a:ext cx="1654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FROM CHATTING TO DELEGATING</a:t>
            </a:r>
          </a:p>
        </p:txBody>
      </p:sp>
      <p:sp>
        <p:nvSpPr>
          <p:cNvPr id="173" name="Text 12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07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01 · LIVE DEMO</a:t>
            </a:r>
          </a:p>
        </p:txBody>
      </p:sp>
      <p:sp>
        <p:nvSpPr>
          <p:cNvPr id="178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Same bug, two ways</a:t>
            </a:r>
          </a:p>
        </p:txBody>
      </p:sp>
      <p:sp>
        <p:nvSpPr>
          <p:cNvPr id="179" name="Shape 2"/>
          <p:cNvSpPr/>
          <p:nvPr/>
        </p:nvSpPr>
        <p:spPr>
          <a:xfrm>
            <a:off x="457200" y="1234439"/>
            <a:ext cx="4041648" cy="246888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Shape 3"/>
          <p:cNvSpPr/>
          <p:nvPr/>
        </p:nvSpPr>
        <p:spPr>
          <a:xfrm>
            <a:off x="457200" y="1234439"/>
            <a:ext cx="4041648" cy="25604"/>
          </a:xfrm>
          <a:prstGeom prst="rect">
            <a:avLst/>
          </a:prstGeom>
          <a:solidFill>
            <a:srgbClr val="5959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Text 4"/>
          <p:cNvSpPr txBox="1"/>
          <p:nvPr/>
        </p:nvSpPr>
        <p:spPr>
          <a:xfrm>
            <a:off x="676655" y="1492250"/>
            <a:ext cx="35661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Chat + copy-paste</a:t>
            </a:r>
          </a:p>
        </p:txBody>
      </p:sp>
      <p:sp>
        <p:nvSpPr>
          <p:cNvPr id="182" name="Text 5"/>
          <p:cNvSpPr txBox="1"/>
          <p:nvPr/>
        </p:nvSpPr>
        <p:spPr>
          <a:xfrm>
            <a:off x="676656" y="1828800"/>
            <a:ext cx="3602736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You hunt for the right snippets to paste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Model guesses at everything it can't see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Every round-trip re-sends the whole story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You hand-merge the answer back in — and hope</a:t>
            </a:r>
          </a:p>
        </p:txBody>
      </p:sp>
      <p:sp>
        <p:nvSpPr>
          <p:cNvPr id="183" name="Shape 6"/>
          <p:cNvSpPr/>
          <p:nvPr/>
        </p:nvSpPr>
        <p:spPr>
          <a:xfrm>
            <a:off x="4645152" y="1234439"/>
            <a:ext cx="4041648" cy="246888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4" name="Shape 7"/>
          <p:cNvSpPr/>
          <p:nvPr/>
        </p:nvSpPr>
        <p:spPr>
          <a:xfrm>
            <a:off x="4645152" y="1234439"/>
            <a:ext cx="4041648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8"/>
          <p:cNvSpPr txBox="1"/>
          <p:nvPr/>
        </p:nvSpPr>
        <p:spPr>
          <a:xfrm>
            <a:off x="4864608" y="1492250"/>
            <a:ext cx="35661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Claude Code in the repo</a:t>
            </a:r>
          </a:p>
        </p:txBody>
      </p:sp>
      <p:sp>
        <p:nvSpPr>
          <p:cNvPr id="186" name="Text 9"/>
          <p:cNvSpPr txBox="1"/>
          <p:nvPr/>
        </p:nvSpPr>
        <p:spPr>
          <a:xfrm>
            <a:off x="4864608" y="1828800"/>
            <a:ext cx="3602737" cy="914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Agent finds the failing code itself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Reads exactly the files it needs — no more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Runs the tests, sees them pass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You review one diff</a:t>
            </a:r>
          </a:p>
        </p:txBody>
      </p:sp>
      <p:sp>
        <p:nvSpPr>
          <p:cNvPr id="187" name="Text 10"/>
          <p:cNvSpPr txBox="1"/>
          <p:nvPr/>
        </p:nvSpPr>
        <p:spPr>
          <a:xfrm>
            <a:off x="658367" y="4111982"/>
            <a:ext cx="7863842" cy="188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Watch the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/cost</a:t>
            </a:r>
            <a:r>
              <a:t> counter during the demo — better result, fewer tokens. This is the thesis of the day, shown live.</a:t>
            </a:r>
          </a:p>
        </p:txBody>
      </p:sp>
      <p:sp>
        <p:nvSpPr>
          <p:cNvPr id="188" name="Shape 11"/>
          <p:cNvSpPr/>
          <p:nvPr/>
        </p:nvSpPr>
        <p:spPr>
          <a:xfrm>
            <a:off x="457200" y="3977640"/>
            <a:ext cx="25604" cy="457201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89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Text 12"/>
          <p:cNvSpPr txBox="1"/>
          <p:nvPr/>
        </p:nvSpPr>
        <p:spPr>
          <a:xfrm>
            <a:off x="304495" y="4846828"/>
            <a:ext cx="1654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FROM CHATTING TO DELEGATING</a:t>
            </a:r>
          </a:p>
        </p:txBody>
      </p:sp>
      <p:sp>
        <p:nvSpPr>
          <p:cNvPr id="191" name="Text 13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08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01 · THE CORE LOOP</a:t>
            </a:r>
          </a:p>
        </p:txBody>
      </p:sp>
      <p:sp>
        <p:nvSpPr>
          <p:cNvPr id="196" name="Text 1"/>
          <p:cNvSpPr txBox="1"/>
          <p:nvPr/>
        </p:nvSpPr>
        <p:spPr>
          <a:xfrm>
            <a:off x="475488" y="495179"/>
            <a:ext cx="7680960" cy="335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Prompt → Plan → Act → Verify</a:t>
            </a:r>
          </a:p>
        </p:txBody>
      </p:sp>
      <p:sp>
        <p:nvSpPr>
          <p:cNvPr id="197" name="Shape 2"/>
          <p:cNvSpPr/>
          <p:nvPr/>
        </p:nvSpPr>
        <p:spPr>
          <a:xfrm>
            <a:off x="457200" y="1234439"/>
            <a:ext cx="1901951" cy="25146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8" name="Shape 3"/>
          <p:cNvSpPr/>
          <p:nvPr/>
        </p:nvSpPr>
        <p:spPr>
          <a:xfrm>
            <a:off x="457200" y="1234439"/>
            <a:ext cx="1901951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9" name="Text 4"/>
          <p:cNvSpPr txBox="1"/>
          <p:nvPr/>
        </p:nvSpPr>
        <p:spPr>
          <a:xfrm>
            <a:off x="1581911" y="1321307"/>
            <a:ext cx="62179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3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00" name="Text 5"/>
          <p:cNvSpPr txBox="1"/>
          <p:nvPr/>
        </p:nvSpPr>
        <p:spPr>
          <a:xfrm>
            <a:off x="621791" y="1516888"/>
            <a:ext cx="153619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Prompt</a:t>
            </a:r>
          </a:p>
        </p:txBody>
      </p:sp>
      <p:sp>
        <p:nvSpPr>
          <p:cNvPr id="201" name="Text 6"/>
          <p:cNvSpPr txBox="1"/>
          <p:nvPr/>
        </p:nvSpPr>
        <p:spPr>
          <a:xfrm>
            <a:off x="621791" y="1810511"/>
            <a:ext cx="1572769" cy="488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Say what you want and why. Point at files, tickets, errors — context beats prose.</a:t>
            </a:r>
          </a:p>
        </p:txBody>
      </p:sp>
      <p:sp>
        <p:nvSpPr>
          <p:cNvPr id="202" name="Text 7"/>
          <p:cNvSpPr txBox="1"/>
          <p:nvPr/>
        </p:nvSpPr>
        <p:spPr>
          <a:xfrm>
            <a:off x="2377439" y="2303779"/>
            <a:ext cx="25603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203" name="Shape 8"/>
          <p:cNvSpPr/>
          <p:nvPr/>
        </p:nvSpPr>
        <p:spPr>
          <a:xfrm>
            <a:off x="2624327" y="1234439"/>
            <a:ext cx="1901952" cy="25146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Shape 9"/>
          <p:cNvSpPr/>
          <p:nvPr/>
        </p:nvSpPr>
        <p:spPr>
          <a:xfrm>
            <a:off x="2624327" y="1234439"/>
            <a:ext cx="1901952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ext 10"/>
          <p:cNvSpPr txBox="1"/>
          <p:nvPr/>
        </p:nvSpPr>
        <p:spPr>
          <a:xfrm>
            <a:off x="3749040" y="1321307"/>
            <a:ext cx="62179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3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06" name="Text 11"/>
          <p:cNvSpPr txBox="1"/>
          <p:nvPr/>
        </p:nvSpPr>
        <p:spPr>
          <a:xfrm>
            <a:off x="2788920" y="1516888"/>
            <a:ext cx="153619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Plan</a:t>
            </a:r>
          </a:p>
        </p:txBody>
      </p:sp>
      <p:sp>
        <p:nvSpPr>
          <p:cNvPr id="207" name="Text 12"/>
          <p:cNvSpPr txBox="1"/>
          <p:nvPr/>
        </p:nvSpPr>
        <p:spPr>
          <a:xfrm>
            <a:off x="2788920" y="1810511"/>
            <a:ext cx="1572769" cy="66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For anything non-trivial: plan mode first. Review the approach before any file changes.</a:t>
            </a:r>
          </a:p>
        </p:txBody>
      </p:sp>
      <p:sp>
        <p:nvSpPr>
          <p:cNvPr id="208" name="Text 13"/>
          <p:cNvSpPr txBox="1"/>
          <p:nvPr/>
        </p:nvSpPr>
        <p:spPr>
          <a:xfrm>
            <a:off x="4544567" y="2303779"/>
            <a:ext cx="25603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209" name="Shape 14"/>
          <p:cNvSpPr/>
          <p:nvPr/>
        </p:nvSpPr>
        <p:spPr>
          <a:xfrm>
            <a:off x="4791455" y="1234439"/>
            <a:ext cx="1901952" cy="25146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0" name="Shape 15"/>
          <p:cNvSpPr/>
          <p:nvPr/>
        </p:nvSpPr>
        <p:spPr>
          <a:xfrm>
            <a:off x="4791455" y="1234439"/>
            <a:ext cx="1901952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16"/>
          <p:cNvSpPr txBox="1"/>
          <p:nvPr/>
        </p:nvSpPr>
        <p:spPr>
          <a:xfrm>
            <a:off x="5916167" y="1321307"/>
            <a:ext cx="62179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3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12" name="Text 17"/>
          <p:cNvSpPr txBox="1"/>
          <p:nvPr/>
        </p:nvSpPr>
        <p:spPr>
          <a:xfrm>
            <a:off x="4956047" y="1516888"/>
            <a:ext cx="153619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Act</a:t>
            </a:r>
          </a:p>
        </p:txBody>
      </p:sp>
      <p:sp>
        <p:nvSpPr>
          <p:cNvPr id="213" name="Text 18"/>
          <p:cNvSpPr txBox="1"/>
          <p:nvPr/>
        </p:nvSpPr>
        <p:spPr>
          <a:xfrm>
            <a:off x="4956047" y="1810511"/>
            <a:ext cx="1572769" cy="66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The agent edits and runs commands. The permission model keeps you in control of every write.</a:t>
            </a:r>
          </a:p>
        </p:txBody>
      </p:sp>
      <p:sp>
        <p:nvSpPr>
          <p:cNvPr id="214" name="Text 19"/>
          <p:cNvSpPr txBox="1"/>
          <p:nvPr/>
        </p:nvSpPr>
        <p:spPr>
          <a:xfrm>
            <a:off x="6711695" y="2303779"/>
            <a:ext cx="25603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215" name="Shape 20"/>
          <p:cNvSpPr/>
          <p:nvPr/>
        </p:nvSpPr>
        <p:spPr>
          <a:xfrm>
            <a:off x="6958583" y="1234439"/>
            <a:ext cx="1901952" cy="25146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6" name="Shape 21"/>
          <p:cNvSpPr/>
          <p:nvPr/>
        </p:nvSpPr>
        <p:spPr>
          <a:xfrm>
            <a:off x="6958583" y="1234439"/>
            <a:ext cx="1901952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22"/>
          <p:cNvSpPr txBox="1"/>
          <p:nvPr/>
        </p:nvSpPr>
        <p:spPr>
          <a:xfrm>
            <a:off x="8083295" y="1321307"/>
            <a:ext cx="62179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3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18" name="Text 23"/>
          <p:cNvSpPr txBox="1"/>
          <p:nvPr/>
        </p:nvSpPr>
        <p:spPr>
          <a:xfrm>
            <a:off x="7123176" y="1516888"/>
            <a:ext cx="1536193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Verify</a:t>
            </a:r>
          </a:p>
        </p:txBody>
      </p:sp>
      <p:sp>
        <p:nvSpPr>
          <p:cNvPr id="219" name="Text 24"/>
          <p:cNvSpPr txBox="1"/>
          <p:nvPr/>
        </p:nvSpPr>
        <p:spPr>
          <a:xfrm>
            <a:off x="7123176" y="1810511"/>
            <a:ext cx="1572769" cy="488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Build + tests run automatically. You review the diff — never blind-trust, never hand-merge.</a:t>
            </a:r>
          </a:p>
        </p:txBody>
      </p:sp>
      <p:sp>
        <p:nvSpPr>
          <p:cNvPr id="220" name="Text 25"/>
          <p:cNvSpPr txBox="1"/>
          <p:nvPr/>
        </p:nvSpPr>
        <p:spPr>
          <a:xfrm>
            <a:off x="475487" y="4123689"/>
            <a:ext cx="82296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Trust grows with the loop: start reviewing everything, loosen permissions as the repo setup (block 2) earns it.</a:t>
            </a:r>
          </a:p>
        </p:txBody>
      </p:sp>
      <p:pic>
        <p:nvPicPr>
          <p:cNvPr id="221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22" name="Text 26"/>
          <p:cNvSpPr txBox="1"/>
          <p:nvPr/>
        </p:nvSpPr>
        <p:spPr>
          <a:xfrm>
            <a:off x="304495" y="4846828"/>
            <a:ext cx="1654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FROM CHATTING TO DELEGATING</a:t>
            </a:r>
          </a:p>
        </p:txBody>
      </p:sp>
      <p:sp>
        <p:nvSpPr>
          <p:cNvPr id="223" name="Text 27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09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FROM CHATTING TO DELEGATING · HANDS-ON</a:t>
            </a:r>
          </a:p>
        </p:txBody>
      </p:sp>
      <p:sp>
        <p:nvSpPr>
          <p:cNvPr id="228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Lab 0 — First contact</a:t>
            </a:r>
          </a:p>
        </p:txBody>
      </p:sp>
      <p:sp>
        <p:nvSpPr>
          <p:cNvPr id="229" name="Text 2"/>
          <p:cNvSpPr txBox="1"/>
          <p:nvPr/>
        </p:nvSpPr>
        <p:spPr>
          <a:xfrm>
            <a:off x="475487" y="1057655"/>
            <a:ext cx="3200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15 MIN · SOLO</a:t>
            </a:r>
          </a:p>
        </p:txBody>
      </p:sp>
      <p:sp>
        <p:nvSpPr>
          <p:cNvPr id="230" name="Text 3"/>
          <p:cNvSpPr txBox="1"/>
          <p:nvPr/>
        </p:nvSpPr>
        <p:spPr>
          <a:xfrm>
            <a:off x="475487" y="1417319"/>
            <a:ext cx="5120642" cy="7692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1.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Open the sample repo in Claude Code (CLI or desktop — your choice)</a:t>
            </a:r>
          </a:p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2.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Ask it to explain the codebase: architecture, main flows, where the tests live</a:t>
            </a:r>
          </a:p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3.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One test is failing. Ask the agent to find it, explain the cause, and fix it</a:t>
            </a:r>
          </a:p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4.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Run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/cost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 and note the number — we'll beat it after block 2</a:t>
            </a:r>
          </a:p>
        </p:txBody>
      </p:sp>
      <p:sp>
        <p:nvSpPr>
          <p:cNvPr id="231" name="Shape 4"/>
          <p:cNvSpPr/>
          <p:nvPr/>
        </p:nvSpPr>
        <p:spPr>
          <a:xfrm>
            <a:off x="5989320" y="1417319"/>
            <a:ext cx="2697481" cy="283464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Shape 5"/>
          <p:cNvSpPr/>
          <p:nvPr/>
        </p:nvSpPr>
        <p:spPr>
          <a:xfrm>
            <a:off x="5989320" y="1417319"/>
            <a:ext cx="2697481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3" name="Text 6"/>
          <p:cNvSpPr txBox="1"/>
          <p:nvPr/>
        </p:nvSpPr>
        <p:spPr>
          <a:xfrm>
            <a:off x="5989320" y="2865120"/>
            <a:ext cx="2496313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8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00</a:t>
            </a:r>
          </a:p>
        </p:txBody>
      </p:sp>
      <p:sp>
        <p:nvSpPr>
          <p:cNvPr id="234" name="Text 7"/>
          <p:cNvSpPr txBox="1"/>
          <p:nvPr/>
        </p:nvSpPr>
        <p:spPr>
          <a:xfrm>
            <a:off x="6190488" y="1655572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8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DONE WHEN</a:t>
            </a:r>
          </a:p>
        </p:txBody>
      </p:sp>
      <p:sp>
        <p:nvSpPr>
          <p:cNvPr id="235" name="Text 8"/>
          <p:cNvSpPr txBox="1"/>
          <p:nvPr/>
        </p:nvSpPr>
        <p:spPr>
          <a:xfrm>
            <a:off x="6190488" y="1920239"/>
            <a:ext cx="2286001" cy="704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0000"/>
              </a:lnSpc>
              <a:spcBef>
                <a:spcPts val="7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Failing test is green</a:t>
            </a:r>
          </a:p>
          <a:p>
            <a:pPr marL="127000" indent="-127000">
              <a:lnSpc>
                <a:spcPct val="120000"/>
              </a:lnSpc>
              <a:spcBef>
                <a:spcPts val="7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You can explain the fix</a:t>
            </a:r>
          </a:p>
          <a:p>
            <a:pPr marL="127000" indent="-127000">
              <a:lnSpc>
                <a:spcPct val="120000"/>
              </a:lnSpc>
              <a:spcBef>
                <a:spcPts val="7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You wrote down your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/cost</a:t>
            </a:r>
          </a:p>
        </p:txBody>
      </p:sp>
      <p:pic>
        <p:nvPicPr>
          <p:cNvPr id="236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37" name="Text 9"/>
          <p:cNvSpPr txBox="1"/>
          <p:nvPr/>
        </p:nvSpPr>
        <p:spPr>
          <a:xfrm>
            <a:off x="304495" y="4846828"/>
            <a:ext cx="1654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FROM CHATTING TO DELEGATING</a:t>
            </a:r>
          </a:p>
        </p:txBody>
      </p:sp>
      <p:sp>
        <p:nvSpPr>
          <p:cNvPr id="238" name="Text 10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10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 0"/>
          <p:cNvSpPr txBox="1"/>
          <p:nvPr/>
        </p:nvSpPr>
        <p:spPr>
          <a:xfrm>
            <a:off x="475487" y="1521205"/>
            <a:ext cx="7315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F0424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02 · 09:45</a:t>
            </a:r>
          </a:p>
        </p:txBody>
      </p:sp>
      <p:sp>
        <p:nvSpPr>
          <p:cNvPr id="243" name="Text 1"/>
          <p:cNvSpPr txBox="1"/>
          <p:nvPr/>
        </p:nvSpPr>
        <p:spPr>
          <a:xfrm>
            <a:off x="475488" y="1974849"/>
            <a:ext cx="81381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An AI-ready codebase</a:t>
            </a:r>
          </a:p>
        </p:txBody>
      </p:sp>
      <p:sp>
        <p:nvSpPr>
          <p:cNvPr id="244" name="Text 2"/>
          <p:cNvSpPr txBox="1"/>
          <p:nvPr/>
        </p:nvSpPr>
        <p:spPr>
          <a:xfrm>
            <a:off x="475487" y="2748280"/>
            <a:ext cx="749808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FBFB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Output quality is mostly decided before you type the prompt. A prepared repo makes every future session better and cheaper.</a:t>
            </a:r>
          </a:p>
        </p:txBody>
      </p:sp>
      <p:pic>
        <p:nvPicPr>
          <p:cNvPr id="245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46" name="Text 3"/>
          <p:cNvSpPr txBox="1"/>
          <p:nvPr/>
        </p:nvSpPr>
        <p:spPr>
          <a:xfrm>
            <a:off x="304495" y="4846828"/>
            <a:ext cx="8358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02 · 09:45</a:t>
            </a:r>
          </a:p>
        </p:txBody>
      </p:sp>
      <p:sp>
        <p:nvSpPr>
          <p:cNvPr id="247" name="Text 4"/>
          <p:cNvSpPr txBox="1"/>
          <p:nvPr/>
        </p:nvSpPr>
        <p:spPr>
          <a:xfrm>
            <a:off x="8561494" y="4846828"/>
            <a:ext cx="27801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11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02 · STANDING INSTRUCTIONS</a:t>
            </a:r>
          </a:p>
        </p:txBody>
      </p:sp>
      <p:sp>
        <p:nvSpPr>
          <p:cNvPr id="252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CLAUDE.md — say it once, never again</a:t>
            </a:r>
          </a:p>
        </p:txBody>
      </p:sp>
      <p:sp>
        <p:nvSpPr>
          <p:cNvPr id="253" name="Shape 2"/>
          <p:cNvSpPr/>
          <p:nvPr/>
        </p:nvSpPr>
        <p:spPr>
          <a:xfrm>
            <a:off x="457200" y="1234439"/>
            <a:ext cx="4041648" cy="283464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4" name="Text 3"/>
          <p:cNvSpPr txBox="1"/>
          <p:nvPr/>
        </p:nvSpPr>
        <p:spPr>
          <a:xfrm>
            <a:off x="676655" y="1419098"/>
            <a:ext cx="35661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WHAT BELONGS</a:t>
            </a:r>
          </a:p>
        </p:txBody>
      </p:sp>
      <p:sp>
        <p:nvSpPr>
          <p:cNvPr id="255" name="Shape 5"/>
          <p:cNvSpPr/>
          <p:nvPr/>
        </p:nvSpPr>
        <p:spPr>
          <a:xfrm>
            <a:off x="4645152" y="1234439"/>
            <a:ext cx="4041648" cy="283464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6"/>
          <p:cNvSpPr txBox="1"/>
          <p:nvPr/>
        </p:nvSpPr>
        <p:spPr>
          <a:xfrm>
            <a:off x="4864608" y="1492250"/>
            <a:ext cx="35661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What doesn't</a:t>
            </a:r>
          </a:p>
        </p:txBody>
      </p:sp>
      <p:sp>
        <p:nvSpPr>
          <p:cNvPr id="257" name="Text 7"/>
          <p:cNvSpPr txBox="1"/>
          <p:nvPr/>
        </p:nvSpPr>
        <p:spPr>
          <a:xfrm>
            <a:off x="4864608" y="1828800"/>
            <a:ext cx="3602737" cy="1104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Anything the agent can read from the code itself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Long prose — it's loaded every session, so every word pays rent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Stale rules nobody enforces (they poison trust)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One-off task instructions — those belong in the prompt</a:t>
            </a:r>
          </a:p>
        </p:txBody>
      </p:sp>
      <p:sp>
        <p:nvSpPr>
          <p:cNvPr id="258" name="Text 8"/>
          <p:cNvSpPr txBox="1"/>
          <p:nvPr/>
        </p:nvSpPr>
        <p:spPr>
          <a:xfrm>
            <a:off x="475487" y="4301658"/>
            <a:ext cx="8229601" cy="174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i="1" sz="1100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/init</a:t>
            </a:r>
            <a:r>
              <a:rPr b="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rPr>
              <a:t> generates a starting point. It is never the end point — refining it is a habit, not a task.</a:t>
            </a:r>
          </a:p>
        </p:txBody>
      </p:sp>
      <p:pic>
        <p:nvPicPr>
          <p:cNvPr id="259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60" name="Text 9"/>
          <p:cNvSpPr txBox="1"/>
          <p:nvPr/>
        </p:nvSpPr>
        <p:spPr>
          <a:xfrm>
            <a:off x="304495" y="4846828"/>
            <a:ext cx="12200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AN AI-READY CODEBASE</a:t>
            </a:r>
          </a:p>
        </p:txBody>
      </p:sp>
      <p:sp>
        <p:nvSpPr>
          <p:cNvPr id="261" name="Text 10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12 / 44</a:t>
            </a:r>
          </a:p>
        </p:txBody>
      </p:sp>
      <p:sp>
        <p:nvSpPr>
          <p:cNvPr id="262" name="Text 4"/>
          <p:cNvSpPr txBox="1"/>
          <p:nvPr/>
        </p:nvSpPr>
        <p:spPr>
          <a:xfrm>
            <a:off x="676656" y="1783079"/>
            <a:ext cx="3611880" cy="1915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8000"/>
              </a:lnSpc>
              <a:defRPr sz="900">
                <a:solidFill>
                  <a:srgbClr val="8A8A8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 Payments API — CLAUDE.md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lnSpc>
                <a:spcPct val="128000"/>
              </a:lnSpc>
              <a:defRPr sz="900">
                <a:solidFill>
                  <a:srgbClr val="F0424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## Build &amp; test</a:t>
            </a:r>
          </a:p>
          <a:p>
            <a:pPr>
              <a:lnSpc>
                <a:spcPct val="128000"/>
              </a:lnSpc>
              <a:defRPr sz="900">
                <a:solidFill>
                  <a:srgbClr val="FFD24D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dotnet build · test · format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integration tests need the Docker DB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lnSpc>
                <a:spcPct val="128000"/>
              </a:lnSpc>
              <a:defRPr sz="900">
                <a:solidFill>
                  <a:srgbClr val="F0424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## Conventions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constructor DI, one handler per file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lnSpc>
                <a:spcPct val="128000"/>
              </a:lnSpc>
              <a:defRPr sz="900">
                <a:solidFill>
                  <a:srgbClr val="F0424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## Hard rules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never edit </a:t>
            </a:r>
            <a:r>
              <a:rPr>
                <a:solidFill>
                  <a:srgbClr val="FFD24D"/>
                </a:solidFill>
              </a:rPr>
              <a:t>/Generated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no EF migrations without asking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02 · FEEDBACK LOOPS</a:t>
            </a:r>
          </a:p>
        </p:txBody>
      </p:sp>
      <p:sp>
        <p:nvSpPr>
          <p:cNvPr id="267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Give the agent eyes: build, test, analyze</a:t>
            </a:r>
          </a:p>
        </p:txBody>
      </p:sp>
      <p:sp>
        <p:nvSpPr>
          <p:cNvPr id="268" name="Shape 2"/>
          <p:cNvSpPr/>
          <p:nvPr/>
        </p:nvSpPr>
        <p:spPr>
          <a:xfrm>
            <a:off x="457200" y="1234439"/>
            <a:ext cx="2651761" cy="265176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Shape 3"/>
          <p:cNvSpPr/>
          <p:nvPr/>
        </p:nvSpPr>
        <p:spPr>
          <a:xfrm>
            <a:off x="658368" y="1435608"/>
            <a:ext cx="310896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4"/>
          <p:cNvSpPr txBox="1"/>
          <p:nvPr/>
        </p:nvSpPr>
        <p:spPr>
          <a:xfrm>
            <a:off x="658368" y="1499361"/>
            <a:ext cx="31089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71" name="Text 5"/>
          <p:cNvSpPr txBox="1"/>
          <p:nvPr/>
        </p:nvSpPr>
        <p:spPr>
          <a:xfrm>
            <a:off x="658368" y="1922780"/>
            <a:ext cx="2286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dotnet build</a:t>
            </a:r>
          </a:p>
        </p:txBody>
      </p:sp>
      <p:sp>
        <p:nvSpPr>
          <p:cNvPr id="272" name="Text 6"/>
          <p:cNvSpPr txBox="1"/>
          <p:nvPr/>
        </p:nvSpPr>
        <p:spPr>
          <a:xfrm>
            <a:off x="658368" y="2194560"/>
            <a:ext cx="2240280" cy="66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Static typing is your superpower. Compile errors give the agent instant, precise, free feedback — every wrong guess dies in seconds, not in review.</a:t>
            </a:r>
          </a:p>
        </p:txBody>
      </p:sp>
      <p:sp>
        <p:nvSpPr>
          <p:cNvPr id="273" name="Shape 7"/>
          <p:cNvSpPr/>
          <p:nvPr/>
        </p:nvSpPr>
        <p:spPr>
          <a:xfrm>
            <a:off x="3246120" y="1234439"/>
            <a:ext cx="2651761" cy="265176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Shape 8"/>
          <p:cNvSpPr/>
          <p:nvPr/>
        </p:nvSpPr>
        <p:spPr>
          <a:xfrm>
            <a:off x="3447288" y="1435608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5" name="Text 9"/>
          <p:cNvSpPr txBox="1"/>
          <p:nvPr/>
        </p:nvSpPr>
        <p:spPr>
          <a:xfrm>
            <a:off x="3447288" y="1499361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76" name="Text 10"/>
          <p:cNvSpPr txBox="1"/>
          <p:nvPr/>
        </p:nvSpPr>
        <p:spPr>
          <a:xfrm>
            <a:off x="3447288" y="1922780"/>
            <a:ext cx="2286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dotnet test</a:t>
            </a:r>
          </a:p>
        </p:txBody>
      </p:sp>
      <p:sp>
        <p:nvSpPr>
          <p:cNvPr id="277" name="Text 11"/>
          <p:cNvSpPr txBox="1"/>
          <p:nvPr/>
        </p:nvSpPr>
        <p:spPr>
          <a:xfrm>
            <a:off x="3447288" y="2194560"/>
            <a:ext cx="2240280" cy="66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Fast tests = the agent verifies its own work. A repo where the suite takes 20 minutes is a repo where the agent flies blind — invest in a fast core suite.</a:t>
            </a:r>
          </a:p>
        </p:txBody>
      </p:sp>
      <p:sp>
        <p:nvSpPr>
          <p:cNvPr id="278" name="Shape 12"/>
          <p:cNvSpPr/>
          <p:nvPr/>
        </p:nvSpPr>
        <p:spPr>
          <a:xfrm>
            <a:off x="6035040" y="1234439"/>
            <a:ext cx="2651761" cy="265176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Shape 13"/>
          <p:cNvSpPr/>
          <p:nvPr/>
        </p:nvSpPr>
        <p:spPr>
          <a:xfrm>
            <a:off x="6236208" y="1435608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0" name="Text 14"/>
          <p:cNvSpPr txBox="1"/>
          <p:nvPr/>
        </p:nvSpPr>
        <p:spPr>
          <a:xfrm>
            <a:off x="6236208" y="1499361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81" name="Text 15"/>
          <p:cNvSpPr txBox="1"/>
          <p:nvPr/>
        </p:nvSpPr>
        <p:spPr>
          <a:xfrm>
            <a:off x="6236208" y="1922780"/>
            <a:ext cx="2286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Analyzers &amp; linters</a:t>
            </a:r>
          </a:p>
        </p:txBody>
      </p:sp>
      <p:sp>
        <p:nvSpPr>
          <p:cNvPr id="282" name="Text 16"/>
          <p:cNvSpPr txBox="1"/>
          <p:nvPr/>
        </p:nvSpPr>
        <p:spPr>
          <a:xfrm>
            <a:off x="6236208" y="2194560"/>
            <a:ext cx="2240281" cy="66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Roslyn analyzers, dotnet format, nullable reference types. Every automated check is a reviewer the agent consults for free, before you have to.</a:t>
            </a:r>
          </a:p>
        </p:txBody>
      </p:sp>
      <p:sp>
        <p:nvSpPr>
          <p:cNvPr id="283" name="Text 17"/>
          <p:cNvSpPr txBox="1"/>
          <p:nvPr/>
        </p:nvSpPr>
        <p:spPr>
          <a:xfrm>
            <a:off x="475487" y="4169409"/>
            <a:ext cx="82296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Rule of thumb: anything a senior dev would check before approving a PR should be a command the agent can run.</a:t>
            </a:r>
          </a:p>
        </p:txBody>
      </p:sp>
      <p:pic>
        <p:nvPicPr>
          <p:cNvPr id="284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Text 18"/>
          <p:cNvSpPr txBox="1"/>
          <p:nvPr/>
        </p:nvSpPr>
        <p:spPr>
          <a:xfrm>
            <a:off x="304495" y="4846828"/>
            <a:ext cx="12200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AN AI-READY CODEBASE</a:t>
            </a:r>
          </a:p>
        </p:txBody>
      </p:sp>
      <p:sp>
        <p:nvSpPr>
          <p:cNvPr id="286" name="Text 19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13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02 · STRUCTURE &amp; GUARDRAILS</a:t>
            </a:r>
          </a:p>
        </p:txBody>
      </p:sp>
      <p:sp>
        <p:nvSpPr>
          <p:cNvPr id="291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What helps humans navigate helps agents more</a:t>
            </a:r>
          </a:p>
        </p:txBody>
      </p:sp>
      <p:sp>
        <p:nvSpPr>
          <p:cNvPr id="292" name="Text 2"/>
          <p:cNvSpPr txBox="1"/>
          <p:nvPr/>
        </p:nvSpPr>
        <p:spPr>
          <a:xfrm>
            <a:off x="475487" y="1280160"/>
            <a:ext cx="4937762" cy="172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0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Predictable layout.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 Consistent project structure means the agent finds things instead of searching for them — search costs tokens.</a:t>
            </a:r>
          </a:p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0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Deep modules, small files.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 A 2,000-line god-class must be read whole; ten focused files are read selectively.</a:t>
            </a:r>
          </a:p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0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Names from the shared language.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 </a:t>
            </a:r>
            <a:r>
              <a:rPr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CONTEXT.md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 terms become class, method and test names — navigation gets cheaper for agent and human alike.</a:t>
            </a:r>
          </a:p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0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Permissions per repo.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 Tight on the legacy monolith, looser on the greenfield service.</a:t>
            </a:r>
          </a:p>
        </p:txBody>
      </p:sp>
      <p:sp>
        <p:nvSpPr>
          <p:cNvPr id="293" name="Shape 3"/>
          <p:cNvSpPr/>
          <p:nvPr/>
        </p:nvSpPr>
        <p:spPr>
          <a:xfrm>
            <a:off x="5760720" y="1280160"/>
            <a:ext cx="2926081" cy="27432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Shape 4"/>
          <p:cNvSpPr/>
          <p:nvPr/>
        </p:nvSpPr>
        <p:spPr>
          <a:xfrm>
            <a:off x="5760720" y="1280160"/>
            <a:ext cx="2926081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Text 5"/>
          <p:cNvSpPr txBox="1"/>
          <p:nvPr/>
        </p:nvSpPr>
        <p:spPr>
          <a:xfrm>
            <a:off x="5980176" y="1509267"/>
            <a:ext cx="2468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8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TEAM INFRASTRUCTURE</a:t>
            </a:r>
          </a:p>
        </p:txBody>
      </p:sp>
      <p:sp>
        <p:nvSpPr>
          <p:cNvPr id="296" name="Text 6"/>
          <p:cNvSpPr txBox="1"/>
          <p:nvPr/>
        </p:nvSpPr>
        <p:spPr>
          <a:xfrm>
            <a:off x="5980176" y="1783079"/>
            <a:ext cx="2487169" cy="1023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Check </a:t>
            </a:r>
            <a:r>
              <a:rPr b="1">
                <a:latin typeface="Aptos ExtraBold"/>
                <a:ea typeface="Aptos ExtraBold"/>
                <a:cs typeface="Aptos ExtraBold"/>
                <a:sym typeface="Aptos ExtraBold"/>
              </a:rPr>
              <a:t>.claude/ into git.</a:t>
            </a:r>
          </a:p>
          <a:p>
            <a:pPr>
              <a:lnSpc>
                <a:spcPct val="130000"/>
              </a:lnSpc>
              <a:defRPr sz="11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CLAUDE.md, skills, hooks and settings are code — version them, review them, share them. One dev's improvement becomes everyone's.</a:t>
            </a:r>
          </a:p>
        </p:txBody>
      </p:sp>
      <p:pic>
        <p:nvPicPr>
          <p:cNvPr id="297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Text 7"/>
          <p:cNvSpPr txBox="1"/>
          <p:nvPr/>
        </p:nvSpPr>
        <p:spPr>
          <a:xfrm>
            <a:off x="304495" y="4846828"/>
            <a:ext cx="12200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AN AI-READY CODEBASE</a:t>
            </a:r>
          </a:p>
        </p:txBody>
      </p:sp>
      <p:sp>
        <p:nvSpPr>
          <p:cNvPr id="299" name="Text 8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15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02 · HOOKS</a:t>
            </a:r>
          </a:p>
        </p:txBody>
      </p:sp>
      <p:sp>
        <p:nvSpPr>
          <p:cNvPr id="304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Hooks — rules that enforce themselves</a:t>
            </a:r>
          </a:p>
        </p:txBody>
      </p:sp>
      <p:sp>
        <p:nvSpPr>
          <p:cNvPr id="305" name="Shape 2"/>
          <p:cNvSpPr/>
          <p:nvPr/>
        </p:nvSpPr>
        <p:spPr>
          <a:xfrm>
            <a:off x="457200" y="1508760"/>
            <a:ext cx="2651761" cy="233172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6" name="Shape 3"/>
          <p:cNvSpPr/>
          <p:nvPr/>
        </p:nvSpPr>
        <p:spPr>
          <a:xfrm>
            <a:off x="658368" y="1709927"/>
            <a:ext cx="310896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Text 4"/>
          <p:cNvSpPr txBox="1"/>
          <p:nvPr/>
        </p:nvSpPr>
        <p:spPr>
          <a:xfrm>
            <a:off x="658368" y="1773682"/>
            <a:ext cx="31089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08" name="Text 5"/>
          <p:cNvSpPr txBox="1"/>
          <p:nvPr/>
        </p:nvSpPr>
        <p:spPr>
          <a:xfrm>
            <a:off x="658368" y="2184400"/>
            <a:ext cx="22402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Block</a:t>
            </a:r>
          </a:p>
        </p:txBody>
      </p:sp>
      <p:sp>
        <p:nvSpPr>
          <p:cNvPr id="309" name="Text 6"/>
          <p:cNvSpPr txBox="1"/>
          <p:nvPr/>
        </p:nvSpPr>
        <p:spPr>
          <a:xfrm>
            <a:off x="658368" y="2450592"/>
            <a:ext cx="224028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Dangerous commands refused before they run: git push --force, reset --hard, clean. The agent physically can't — no vigilance required.</a:t>
            </a:r>
          </a:p>
        </p:txBody>
      </p:sp>
      <p:sp>
        <p:nvSpPr>
          <p:cNvPr id="310" name="Shape 7"/>
          <p:cNvSpPr/>
          <p:nvPr/>
        </p:nvSpPr>
        <p:spPr>
          <a:xfrm>
            <a:off x="3246120" y="1508760"/>
            <a:ext cx="2651761" cy="233172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Shape 8"/>
          <p:cNvSpPr/>
          <p:nvPr/>
        </p:nvSpPr>
        <p:spPr>
          <a:xfrm>
            <a:off x="3447288" y="1709927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2" name="Text 9"/>
          <p:cNvSpPr txBox="1"/>
          <p:nvPr/>
        </p:nvSpPr>
        <p:spPr>
          <a:xfrm>
            <a:off x="3447288" y="1773682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13" name="Text 10"/>
          <p:cNvSpPr txBox="1"/>
          <p:nvPr/>
        </p:nvSpPr>
        <p:spPr>
          <a:xfrm>
            <a:off x="3447288" y="2184400"/>
            <a:ext cx="22402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Enforce</a:t>
            </a:r>
          </a:p>
        </p:txBody>
      </p:sp>
      <p:sp>
        <p:nvSpPr>
          <p:cNvPr id="314" name="Text 11"/>
          <p:cNvSpPr txBox="1"/>
          <p:nvPr/>
        </p:nvSpPr>
        <p:spPr>
          <a:xfrm>
            <a:off x="3447288" y="2450592"/>
            <a:ext cx="224028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Auto-run dotnet format after every edit. Require green tests before any commit. Quality gates the agent passes through, every time.</a:t>
            </a:r>
          </a:p>
        </p:txBody>
      </p:sp>
      <p:sp>
        <p:nvSpPr>
          <p:cNvPr id="315" name="Shape 12"/>
          <p:cNvSpPr/>
          <p:nvPr/>
        </p:nvSpPr>
        <p:spPr>
          <a:xfrm>
            <a:off x="6035040" y="1508760"/>
            <a:ext cx="2651761" cy="233172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Shape 13"/>
          <p:cNvSpPr/>
          <p:nvPr/>
        </p:nvSpPr>
        <p:spPr>
          <a:xfrm>
            <a:off x="6236208" y="1709927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7" name="Text 14"/>
          <p:cNvSpPr txBox="1"/>
          <p:nvPr/>
        </p:nvSpPr>
        <p:spPr>
          <a:xfrm>
            <a:off x="6236208" y="1773682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18" name="Text 15"/>
          <p:cNvSpPr txBox="1"/>
          <p:nvPr/>
        </p:nvSpPr>
        <p:spPr>
          <a:xfrm>
            <a:off x="6236208" y="2184400"/>
            <a:ext cx="22402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Notify</a:t>
            </a:r>
          </a:p>
        </p:txBody>
      </p:sp>
      <p:sp>
        <p:nvSpPr>
          <p:cNvPr id="319" name="Text 16"/>
          <p:cNvSpPr txBox="1"/>
          <p:nvPr/>
        </p:nvSpPr>
        <p:spPr>
          <a:xfrm>
            <a:off x="6236208" y="2450592"/>
            <a:ext cx="224028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Ping you when the agent finishes, gets stuck, or needs a decision. Kick off long tasks and actually walk away.</a:t>
            </a:r>
          </a:p>
        </p:txBody>
      </p:sp>
      <p:sp>
        <p:nvSpPr>
          <p:cNvPr id="320" name="Text 17"/>
          <p:cNvSpPr txBox="1"/>
          <p:nvPr/>
        </p:nvSpPr>
        <p:spPr>
          <a:xfrm>
            <a:off x="475487" y="1101597"/>
            <a:ext cx="82296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Shell commands that fire on agent lifecycle events — before a tool runs, after an edit, on finish. Deterministic, not optional.</a:t>
            </a:r>
          </a:p>
        </p:txBody>
      </p:sp>
      <p:sp>
        <p:nvSpPr>
          <p:cNvPr id="321" name="Text 18"/>
          <p:cNvSpPr txBox="1"/>
          <p:nvPr/>
        </p:nvSpPr>
        <p:spPr>
          <a:xfrm>
            <a:off x="658367" y="4142739"/>
            <a:ext cx="786384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CLAUDE.md asks. Hooks enforce.  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Move anything safety-critical from prose into a hook — and version hooks in git like everything else in .claude/.</a:t>
            </a:r>
          </a:p>
        </p:txBody>
      </p:sp>
      <p:sp>
        <p:nvSpPr>
          <p:cNvPr id="322" name="Shape 19"/>
          <p:cNvSpPr/>
          <p:nvPr/>
        </p:nvSpPr>
        <p:spPr>
          <a:xfrm>
            <a:off x="457200" y="4069079"/>
            <a:ext cx="25604" cy="502920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23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24" name="Text 20"/>
          <p:cNvSpPr txBox="1"/>
          <p:nvPr/>
        </p:nvSpPr>
        <p:spPr>
          <a:xfrm>
            <a:off x="304495" y="4846828"/>
            <a:ext cx="12200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AN AI-READY CODEBASE</a:t>
            </a:r>
          </a:p>
        </p:txBody>
      </p:sp>
      <p:sp>
        <p:nvSpPr>
          <p:cNvPr id="325" name="Text 21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16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02 · HOOK EVENTS</a:t>
            </a:r>
          </a:p>
        </p:txBody>
      </p:sp>
      <p:sp>
        <p:nvSpPr>
          <p:cNvPr id="330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When hooks fire — the session lifecycle</a:t>
            </a:r>
          </a:p>
        </p:txBody>
      </p:sp>
      <p:sp>
        <p:nvSpPr>
          <p:cNvPr id="331" name="Shape 2"/>
          <p:cNvSpPr/>
          <p:nvPr/>
        </p:nvSpPr>
        <p:spPr>
          <a:xfrm>
            <a:off x="457200" y="1508760"/>
            <a:ext cx="2651761" cy="233172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2" name="Shape 3"/>
          <p:cNvSpPr/>
          <p:nvPr/>
        </p:nvSpPr>
        <p:spPr>
          <a:xfrm>
            <a:off x="658368" y="1709927"/>
            <a:ext cx="310896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3" name="Text 4"/>
          <p:cNvSpPr txBox="1"/>
          <p:nvPr/>
        </p:nvSpPr>
        <p:spPr>
          <a:xfrm>
            <a:off x="658368" y="1773682"/>
            <a:ext cx="31089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34" name="Text 5"/>
          <p:cNvSpPr txBox="1"/>
          <p:nvPr/>
        </p:nvSpPr>
        <p:spPr>
          <a:xfrm>
            <a:off x="658368" y="2184400"/>
            <a:ext cx="22402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PreToolUse</a:t>
            </a:r>
          </a:p>
        </p:txBody>
      </p:sp>
      <p:sp>
        <p:nvSpPr>
          <p:cNvPr id="335" name="Text 6"/>
          <p:cNvSpPr txBox="1"/>
          <p:nvPr/>
        </p:nvSpPr>
        <p:spPr>
          <a:xfrm>
            <a:off x="658368" y="2450592"/>
            <a:ext cx="224028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Fires before a tool runs — and can block it. Matcher = tool name (Bash, Edit|Write). Exit 2 refuses the call.</a:t>
            </a:r>
          </a:p>
        </p:txBody>
      </p:sp>
      <p:sp>
        <p:nvSpPr>
          <p:cNvPr id="336" name="Shape 7"/>
          <p:cNvSpPr/>
          <p:nvPr/>
        </p:nvSpPr>
        <p:spPr>
          <a:xfrm>
            <a:off x="3246120" y="1508760"/>
            <a:ext cx="2651761" cy="233172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Shape 8"/>
          <p:cNvSpPr/>
          <p:nvPr/>
        </p:nvSpPr>
        <p:spPr>
          <a:xfrm>
            <a:off x="3447288" y="1709927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8" name="Text 9"/>
          <p:cNvSpPr txBox="1"/>
          <p:nvPr/>
        </p:nvSpPr>
        <p:spPr>
          <a:xfrm>
            <a:off x="3447288" y="1773682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39" name="Text 10"/>
          <p:cNvSpPr txBox="1"/>
          <p:nvPr/>
        </p:nvSpPr>
        <p:spPr>
          <a:xfrm>
            <a:off x="3447288" y="2184400"/>
            <a:ext cx="22402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PostToolUse</a:t>
            </a:r>
          </a:p>
        </p:txBody>
      </p:sp>
      <p:sp>
        <p:nvSpPr>
          <p:cNvPr id="340" name="Text 11"/>
          <p:cNvSpPr txBox="1"/>
          <p:nvPr/>
        </p:nvSpPr>
        <p:spPr>
          <a:xfrm>
            <a:off x="3447288" y="2450592"/>
            <a:ext cx="2240280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Fires after a tool succeeds. Same tool-name matcher. Auto-format, run tests, or verify what just changed.</a:t>
            </a:r>
          </a:p>
        </p:txBody>
      </p:sp>
      <p:sp>
        <p:nvSpPr>
          <p:cNvPr id="341" name="Shape 12"/>
          <p:cNvSpPr/>
          <p:nvPr/>
        </p:nvSpPr>
        <p:spPr>
          <a:xfrm>
            <a:off x="6035040" y="1508760"/>
            <a:ext cx="2651761" cy="233172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2" name="Shape 13"/>
          <p:cNvSpPr/>
          <p:nvPr/>
        </p:nvSpPr>
        <p:spPr>
          <a:xfrm>
            <a:off x="6236208" y="1709927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Text 14"/>
          <p:cNvSpPr txBox="1"/>
          <p:nvPr/>
        </p:nvSpPr>
        <p:spPr>
          <a:xfrm>
            <a:off x="6236208" y="1773682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44" name="Text 15"/>
          <p:cNvSpPr txBox="1"/>
          <p:nvPr/>
        </p:nvSpPr>
        <p:spPr>
          <a:xfrm>
            <a:off x="6236208" y="2184400"/>
            <a:ext cx="22402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SessionEnd</a:t>
            </a:r>
          </a:p>
        </p:txBody>
      </p:sp>
      <p:sp>
        <p:nvSpPr>
          <p:cNvPr id="345" name="Text 16"/>
          <p:cNvSpPr txBox="1"/>
          <p:nvPr/>
        </p:nvSpPr>
        <p:spPr>
          <a:xfrm>
            <a:off x="6236208" y="2450592"/>
            <a:ext cx="2240281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Fires when the session ends. No blocking — fire-and-forget: clean up scratch files, log the run, archive it.</a:t>
            </a:r>
          </a:p>
        </p:txBody>
      </p:sp>
      <p:sp>
        <p:nvSpPr>
          <p:cNvPr id="346" name="Text 17"/>
          <p:cNvSpPr txBox="1"/>
          <p:nvPr/>
        </p:nvSpPr>
        <p:spPr>
          <a:xfrm>
            <a:off x="475487" y="1101597"/>
            <a:ext cx="82296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They fire at fixed points in the agent's loop; a matcher narrows each to the tools or triggers you care about.</a:t>
            </a:r>
          </a:p>
        </p:txBody>
      </p:sp>
      <p:sp>
        <p:nvSpPr>
          <p:cNvPr id="347" name="Text 18"/>
          <p:cNvSpPr txBox="1"/>
          <p:nvPr/>
        </p:nvSpPr>
        <p:spPr>
          <a:xfrm>
            <a:off x="658367" y="4142739"/>
            <a:ext cx="786384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Match the event to the moment.  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SessionStart seeds context at launch; PreToolUse guards, PostToolUse verifies, SessionEnd cleans up.</a:t>
            </a:r>
          </a:p>
        </p:txBody>
      </p:sp>
      <p:sp>
        <p:nvSpPr>
          <p:cNvPr id="348" name="Shape 19"/>
          <p:cNvSpPr/>
          <p:nvPr/>
        </p:nvSpPr>
        <p:spPr>
          <a:xfrm>
            <a:off x="457200" y="4069079"/>
            <a:ext cx="25604" cy="502920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349" name="Image 0" descr="Image 0"/>
          <p:cNvPicPr>
            <a:picLocks noChangeAspect="1"/>
          </p:cNvPicPr>
          <p:nvPr/>
        </p:nvPicPr>
        <p:blipFill>
          <a:blip r:embed="rId2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ext 20"/>
          <p:cNvSpPr txBox="1"/>
          <p:nvPr/>
        </p:nvSpPr>
        <p:spPr>
          <a:xfrm>
            <a:off x="304495" y="4846828"/>
            <a:ext cx="12200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AN AI-READY CODEBASE</a:t>
            </a:r>
          </a:p>
        </p:txBody>
      </p:sp>
      <p:sp>
        <p:nvSpPr>
          <p:cNvPr id="351" name="Text 21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17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02 · HOOKS IN PRACTICE</a:t>
            </a:r>
          </a:p>
        </p:txBody>
      </p:sp>
      <p:sp>
        <p:nvSpPr>
          <p:cNvPr id="354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Three hooks you'll actually write</a:t>
            </a:r>
          </a:p>
        </p:txBody>
      </p:sp>
      <p:sp>
        <p:nvSpPr>
          <p:cNvPr id="355" name="Shape 2"/>
          <p:cNvSpPr/>
          <p:nvPr/>
        </p:nvSpPr>
        <p:spPr>
          <a:xfrm>
            <a:off x="457199" y="1234439"/>
            <a:ext cx="4892042" cy="32004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6" name="Text 3"/>
          <p:cNvSpPr txBox="1"/>
          <p:nvPr/>
        </p:nvSpPr>
        <p:spPr>
          <a:xfrm>
            <a:off x="676656" y="1408683"/>
            <a:ext cx="4480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.claude/settings.json</a:t>
            </a:r>
          </a:p>
        </p:txBody>
      </p:sp>
      <p:sp>
        <p:nvSpPr>
          <p:cNvPr id="357" name="Text 4"/>
          <p:cNvSpPr txBox="1"/>
          <p:nvPr/>
        </p:nvSpPr>
        <p:spPr>
          <a:xfrm>
            <a:off x="658368" y="1664207"/>
            <a:ext cx="4590289" cy="2240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"hooks": {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</a:t>
            </a:r>
            <a:r>
              <a:rPr>
                <a:solidFill>
                  <a:srgbClr val="F04242"/>
                </a:solidFill>
              </a:rPr>
              <a:t>PreToolUse</a:t>
            </a:r>
            <a:r>
              <a:t>": [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{ "matcher": "Bash", "hooks": [{ "type": "command",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"if": "Bash(git push --force*)",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"command": "</a:t>
            </a:r>
            <a:r>
              <a:rPr>
                <a:solidFill>
                  <a:srgbClr val="FFD24D"/>
                </a:solidFill>
              </a:rPr>
              <a:t>echo blocked &gt;&amp;2; exit 2</a:t>
            </a:r>
            <a:r>
              <a:t>" }] }],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</a:t>
            </a:r>
            <a:r>
              <a:rPr>
                <a:solidFill>
                  <a:srgbClr val="F04242"/>
                </a:solidFill>
              </a:rPr>
              <a:t>PostToolUse</a:t>
            </a:r>
            <a:r>
              <a:t>": [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{ "matcher": "Edit|Write", "hooks": [{ "type": "command",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"command": "</a:t>
            </a:r>
            <a:r>
              <a:rPr>
                <a:solidFill>
                  <a:srgbClr val="FFD24D"/>
                </a:solidFill>
              </a:rPr>
              <a:t>dotnet format</a:t>
            </a:r>
            <a:r>
              <a:t>" }] }],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</a:t>
            </a:r>
            <a:r>
              <a:rPr>
                <a:solidFill>
                  <a:srgbClr val="F04242"/>
                </a:solidFill>
              </a:rPr>
              <a:t>SessionEnd</a:t>
            </a:r>
            <a:r>
              <a:t>": [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{ "hooks": [{ "type": "command",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 "command": "</a:t>
            </a:r>
            <a:r>
              <a:rPr>
                <a:solidFill>
                  <a:srgbClr val="FFD24D"/>
                </a:solidFill>
              </a:rPr>
              <a:t>./.claude/hooks/wrap-up.sh</a:t>
            </a:r>
            <a:r>
              <a:t>" }] }]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  <p:sp>
        <p:nvSpPr>
          <p:cNvPr id="358" name="Text 5"/>
          <p:cNvSpPr txBox="1"/>
          <p:nvPr/>
        </p:nvSpPr>
        <p:spPr>
          <a:xfrm>
            <a:off x="5669279" y="1371600"/>
            <a:ext cx="3017521" cy="1257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0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PreToolUse 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runs before the call and can veto it — a force-push never reaches git. Your safety rail.</a:t>
            </a:r>
          </a:p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0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PostToolUse 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runs after an edit lands. dotnet format here; swap in dotnet test to gate commits.</a:t>
            </a:r>
          </a:p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0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SessionEnd 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has no matcher and can't block — ideal for cleanup and logging as you exit.</a:t>
            </a:r>
          </a:p>
        </p:txBody>
      </p:sp>
      <p:sp>
        <p:nvSpPr>
          <p:cNvPr id="359" name="Text 6"/>
          <p:cNvSpPr txBox="1"/>
          <p:nvPr/>
        </p:nvSpPr>
        <p:spPr>
          <a:xfrm>
            <a:off x="475487" y="4623815"/>
            <a:ext cx="8229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One settings.json in .claude/, versioned in git — the whole team inherits the same guardrails.</a:t>
            </a:r>
          </a:p>
        </p:txBody>
      </p:sp>
      <p:pic>
        <p:nvPicPr>
          <p:cNvPr id="360" name="Image 0" descr="Image 0"/>
          <p:cNvPicPr>
            <a:picLocks noChangeAspect="1"/>
          </p:cNvPicPr>
          <p:nvPr/>
        </p:nvPicPr>
        <p:blipFill>
          <a:blip r:embed="rId2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61" name="Text 7"/>
          <p:cNvSpPr txBox="1"/>
          <p:nvPr/>
        </p:nvSpPr>
        <p:spPr>
          <a:xfrm>
            <a:off x="304495" y="4846828"/>
            <a:ext cx="12200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AN AI-READY CODEBASE</a:t>
            </a:r>
          </a:p>
        </p:txBody>
      </p:sp>
      <p:sp>
        <p:nvSpPr>
          <p:cNvPr id="362" name="Text 8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18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AN AI-READY CODEBASE · HANDS-ON</a:t>
            </a:r>
          </a:p>
        </p:txBody>
      </p:sp>
      <p:sp>
        <p:nvSpPr>
          <p:cNvPr id="365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Lab 1 — Make the repo AI-ready</a:t>
            </a:r>
          </a:p>
        </p:txBody>
      </p:sp>
      <p:sp>
        <p:nvSpPr>
          <p:cNvPr id="366" name="Text 2"/>
          <p:cNvSpPr txBox="1"/>
          <p:nvPr/>
        </p:nvSpPr>
        <p:spPr>
          <a:xfrm>
            <a:off x="475487" y="1057655"/>
            <a:ext cx="3200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40 MIN · PAIRS</a:t>
            </a:r>
          </a:p>
        </p:txBody>
      </p:sp>
      <p:sp>
        <p:nvSpPr>
          <p:cNvPr id="367" name="Text 3"/>
          <p:cNvSpPr txBox="1"/>
          <p:nvPr/>
        </p:nvSpPr>
        <p:spPr>
          <a:xfrm>
            <a:off x="475487" y="1417319"/>
            <a:ext cx="5120642" cy="1364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1.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Run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/init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 on the sample repo, then cut the generated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 down to what earns its place</a:t>
            </a:r>
          </a:p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2.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Add a few hooks, perhaps you can think of another one to implement? Review the documentation and come up with an idea!</a:t>
            </a:r>
          </a:p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3.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Start a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CONTEXT.md</a:t>
            </a:r>
          </a:p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4.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Ask the agent to implement a new feature and ask it to update the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CONTEXT.md</a:t>
            </a:r>
          </a:p>
        </p:txBody>
      </p:sp>
      <p:sp>
        <p:nvSpPr>
          <p:cNvPr id="368" name="Shape 4"/>
          <p:cNvSpPr/>
          <p:nvPr/>
        </p:nvSpPr>
        <p:spPr>
          <a:xfrm>
            <a:off x="5989320" y="1417319"/>
            <a:ext cx="2697481" cy="283464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9" name="Shape 5"/>
          <p:cNvSpPr/>
          <p:nvPr/>
        </p:nvSpPr>
        <p:spPr>
          <a:xfrm>
            <a:off x="5989320" y="1417319"/>
            <a:ext cx="2697481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Text 6"/>
          <p:cNvSpPr txBox="1"/>
          <p:nvPr/>
        </p:nvSpPr>
        <p:spPr>
          <a:xfrm>
            <a:off x="5989320" y="2865120"/>
            <a:ext cx="2496313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8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71" name="Text 7"/>
          <p:cNvSpPr txBox="1"/>
          <p:nvPr/>
        </p:nvSpPr>
        <p:spPr>
          <a:xfrm>
            <a:off x="6190488" y="1655572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8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DONE WHEN</a:t>
            </a:r>
          </a:p>
        </p:txBody>
      </p:sp>
      <p:sp>
        <p:nvSpPr>
          <p:cNvPr id="372" name="Text 8"/>
          <p:cNvSpPr txBox="1"/>
          <p:nvPr/>
        </p:nvSpPr>
        <p:spPr>
          <a:xfrm>
            <a:off x="6190488" y="1920239"/>
            <a:ext cx="2286001" cy="1083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0000"/>
              </a:lnSpc>
              <a:spcBef>
                <a:spcPts val="700"/>
              </a:spcBef>
              <a:buSzPct val="100000"/>
              <a:buChar char="•"/>
              <a:defRPr b="1" sz="1000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CLAUDE.md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 &lt; 60 lines, all of it true</a:t>
            </a:r>
          </a:p>
          <a:p>
            <a:pPr marL="127000" indent="-127000">
              <a:lnSpc>
                <a:spcPct val="120000"/>
              </a:lnSpc>
              <a:spcBef>
                <a:spcPts val="700"/>
              </a:spcBef>
              <a:buSzPct val="100000"/>
              <a:buChar char="•"/>
              <a:defRPr b="1" sz="1000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Hooks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 have been added and are working</a:t>
            </a:r>
          </a:p>
          <a:p>
            <a:pPr marL="127000" indent="-127000">
              <a:lnSpc>
                <a:spcPct val="120000"/>
              </a:lnSpc>
              <a:spcBef>
                <a:spcPts val="7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New feature is implemented, Context.MD is updated</a:t>
            </a:r>
          </a:p>
        </p:txBody>
      </p:sp>
      <p:pic>
        <p:nvPicPr>
          <p:cNvPr id="373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74" name="Text 9"/>
          <p:cNvSpPr txBox="1"/>
          <p:nvPr/>
        </p:nvSpPr>
        <p:spPr>
          <a:xfrm>
            <a:off x="304495" y="4846828"/>
            <a:ext cx="122008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AN AI-READY CODEBASE</a:t>
            </a:r>
          </a:p>
        </p:txBody>
      </p:sp>
      <p:sp>
        <p:nvSpPr>
          <p:cNvPr id="375" name="Text 10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19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Text 0"/>
          <p:cNvSpPr txBox="1"/>
          <p:nvPr/>
        </p:nvSpPr>
        <p:spPr>
          <a:xfrm>
            <a:off x="475487" y="1521205"/>
            <a:ext cx="7315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F0424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03 · 11:15</a:t>
            </a:r>
          </a:p>
        </p:txBody>
      </p:sp>
      <p:sp>
        <p:nvSpPr>
          <p:cNvPr id="380" name="Text 1"/>
          <p:cNvSpPr txBox="1"/>
          <p:nvPr/>
        </p:nvSpPr>
        <p:spPr>
          <a:xfrm>
            <a:off x="475488" y="1974849"/>
            <a:ext cx="81381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Context, scope &amp; planning</a:t>
            </a:r>
          </a:p>
        </p:txBody>
      </p:sp>
      <p:sp>
        <p:nvSpPr>
          <p:cNvPr id="381" name="Text 2"/>
          <p:cNvSpPr txBox="1"/>
          <p:nvPr/>
        </p:nvSpPr>
        <p:spPr>
          <a:xfrm>
            <a:off x="475487" y="2748280"/>
            <a:ext cx="749808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FBFB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Working effectively inside a session: keep context clean, cut work small, and align before any code gets written.</a:t>
            </a:r>
          </a:p>
        </p:txBody>
      </p:sp>
      <p:pic>
        <p:nvPicPr>
          <p:cNvPr id="382" name="Image 0" descr="Image 0"/>
          <p:cNvPicPr>
            <a:picLocks noChangeAspect="1"/>
          </p:cNvPicPr>
          <p:nvPr/>
        </p:nvPicPr>
        <p:blipFill>
          <a:blip r:embed="rId2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Text 3"/>
          <p:cNvSpPr txBox="1"/>
          <p:nvPr/>
        </p:nvSpPr>
        <p:spPr>
          <a:xfrm>
            <a:off x="304495" y="4846828"/>
            <a:ext cx="8292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03 · 11:15</a:t>
            </a:r>
          </a:p>
        </p:txBody>
      </p:sp>
      <p:sp>
        <p:nvSpPr>
          <p:cNvPr id="384" name="Text 4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20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03 · CONTEXT HYGIENE</a:t>
            </a:r>
          </a:p>
        </p:txBody>
      </p:sp>
      <p:sp>
        <p:nvSpPr>
          <p:cNvPr id="387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A conversation is a consumable</a:t>
            </a:r>
          </a:p>
        </p:txBody>
      </p:sp>
      <p:sp>
        <p:nvSpPr>
          <p:cNvPr id="388" name="Shape 2"/>
          <p:cNvSpPr/>
          <p:nvPr/>
        </p:nvSpPr>
        <p:spPr>
          <a:xfrm>
            <a:off x="457200" y="1234439"/>
            <a:ext cx="2651761" cy="27432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9" name="Shape 3"/>
          <p:cNvSpPr/>
          <p:nvPr/>
        </p:nvSpPr>
        <p:spPr>
          <a:xfrm>
            <a:off x="658368" y="1435608"/>
            <a:ext cx="310896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Text 4"/>
          <p:cNvSpPr txBox="1"/>
          <p:nvPr/>
        </p:nvSpPr>
        <p:spPr>
          <a:xfrm>
            <a:off x="658368" y="1499361"/>
            <a:ext cx="31089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91" name="Text 5"/>
          <p:cNvSpPr txBox="1"/>
          <p:nvPr/>
        </p:nvSpPr>
        <p:spPr>
          <a:xfrm>
            <a:off x="658368" y="1922780"/>
            <a:ext cx="2286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One task, one session</a:t>
            </a:r>
          </a:p>
        </p:txBody>
      </p:sp>
      <p:sp>
        <p:nvSpPr>
          <p:cNvPr id="392" name="Text 6"/>
          <p:cNvSpPr txBox="1"/>
          <p:nvPr/>
        </p:nvSpPr>
        <p:spPr>
          <a:xfrm>
            <a:off x="658368" y="2194560"/>
            <a:ext cx="2240280" cy="673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Context accumulated for task A is noise (and cost) for task B. Finish,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/clear</a:t>
            </a:r>
            <a:r>
              <a:t>, start clean. Long meandering sessions degrade quality and burn tokens.</a:t>
            </a:r>
          </a:p>
        </p:txBody>
      </p:sp>
      <p:sp>
        <p:nvSpPr>
          <p:cNvPr id="393" name="Shape 7"/>
          <p:cNvSpPr/>
          <p:nvPr/>
        </p:nvSpPr>
        <p:spPr>
          <a:xfrm>
            <a:off x="3246120" y="1234439"/>
            <a:ext cx="2651761" cy="27432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4" name="Shape 8"/>
          <p:cNvSpPr/>
          <p:nvPr/>
        </p:nvSpPr>
        <p:spPr>
          <a:xfrm>
            <a:off x="3447288" y="1435608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Text 9"/>
          <p:cNvSpPr txBox="1"/>
          <p:nvPr/>
        </p:nvSpPr>
        <p:spPr>
          <a:xfrm>
            <a:off x="3447288" y="1499361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6" name="Text 10"/>
          <p:cNvSpPr txBox="1"/>
          <p:nvPr/>
        </p:nvSpPr>
        <p:spPr>
          <a:xfrm>
            <a:off x="3447288" y="1922780"/>
            <a:ext cx="2286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/clear vs /compact</a:t>
            </a:r>
          </a:p>
        </p:txBody>
      </p:sp>
      <p:sp>
        <p:nvSpPr>
          <p:cNvPr id="397" name="Text 11"/>
          <p:cNvSpPr txBox="1"/>
          <p:nvPr/>
        </p:nvSpPr>
        <p:spPr>
          <a:xfrm>
            <a:off x="3447288" y="2194560"/>
            <a:ext cx="2240280" cy="68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b="1" sz="900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/clear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 wipes the slate — default between tasks. </a:t>
            </a:r>
            <a:r>
              <a:t>/compact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 summarizes when you must continue past a long history. Know which you need before the window fills.</a:t>
            </a:r>
          </a:p>
        </p:txBody>
      </p:sp>
      <p:sp>
        <p:nvSpPr>
          <p:cNvPr id="398" name="Shape 12"/>
          <p:cNvSpPr/>
          <p:nvPr/>
        </p:nvSpPr>
        <p:spPr>
          <a:xfrm>
            <a:off x="6035040" y="1234439"/>
            <a:ext cx="2651761" cy="27432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9" name="Shape 13"/>
          <p:cNvSpPr/>
          <p:nvPr/>
        </p:nvSpPr>
        <p:spPr>
          <a:xfrm>
            <a:off x="6236208" y="1435608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0" name="Text 14"/>
          <p:cNvSpPr txBox="1"/>
          <p:nvPr/>
        </p:nvSpPr>
        <p:spPr>
          <a:xfrm>
            <a:off x="6236208" y="1499361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01" name="Text 15"/>
          <p:cNvSpPr txBox="1"/>
          <p:nvPr/>
        </p:nvSpPr>
        <p:spPr>
          <a:xfrm>
            <a:off x="6236208" y="1922780"/>
            <a:ext cx="2286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Don't hoard context</a:t>
            </a:r>
          </a:p>
        </p:txBody>
      </p:sp>
      <p:sp>
        <p:nvSpPr>
          <p:cNvPr id="402" name="Text 16"/>
          <p:cNvSpPr txBox="1"/>
          <p:nvPr/>
        </p:nvSpPr>
        <p:spPr>
          <a:xfrm>
            <a:off x="6236208" y="2194560"/>
            <a:ext cx="2240281" cy="66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Point at files instead of pasting them. Reference tickets by ID. Let the agent pull what it needs — pulling the right thing beats pushing everything.</a:t>
            </a:r>
          </a:p>
        </p:txBody>
      </p:sp>
      <p:sp>
        <p:nvSpPr>
          <p:cNvPr id="403" name="Text 17"/>
          <p:cNvSpPr txBox="1"/>
          <p:nvPr/>
        </p:nvSpPr>
        <p:spPr>
          <a:xfrm>
            <a:off x="475487" y="4260850"/>
            <a:ext cx="82296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Symptom check: if you're scrolling to remember what the session was about, the agent is struggling too.</a:t>
            </a:r>
          </a:p>
        </p:txBody>
      </p:sp>
      <p:pic>
        <p:nvPicPr>
          <p:cNvPr id="404" name="Image 0" descr="Image 0"/>
          <p:cNvPicPr>
            <a:picLocks noChangeAspect="1"/>
          </p:cNvPicPr>
          <p:nvPr/>
        </p:nvPicPr>
        <p:blipFill>
          <a:blip r:embed="rId2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05" name="Text 18"/>
          <p:cNvSpPr txBox="1"/>
          <p:nvPr/>
        </p:nvSpPr>
        <p:spPr>
          <a:xfrm>
            <a:off x="304495" y="4846828"/>
            <a:ext cx="15101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CONTEXT, SCOPE &amp; PLANNING</a:t>
            </a:r>
          </a:p>
        </p:txBody>
      </p:sp>
      <p:sp>
        <p:nvSpPr>
          <p:cNvPr id="406" name="Text 19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21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03 · HANDOFF DOCUMENTS</a:t>
            </a:r>
          </a:p>
        </p:txBody>
      </p:sp>
      <p:sp>
        <p:nvSpPr>
          <p:cNvPr id="409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Handoffs — context as a file, not a scrollback</a:t>
            </a:r>
          </a:p>
        </p:txBody>
      </p:sp>
      <p:sp>
        <p:nvSpPr>
          <p:cNvPr id="410" name="Text 2"/>
          <p:cNvSpPr txBox="1"/>
          <p:nvPr/>
        </p:nvSpPr>
        <p:spPr>
          <a:xfrm>
            <a:off x="475487" y="1101597"/>
            <a:ext cx="82296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Have the agent distill the session into a document: goal, findings, decisions, next steps. Then anything can pick it up.</a:t>
            </a:r>
          </a:p>
        </p:txBody>
      </p:sp>
      <p:sp>
        <p:nvSpPr>
          <p:cNvPr id="411" name="Shape 3"/>
          <p:cNvSpPr/>
          <p:nvPr/>
        </p:nvSpPr>
        <p:spPr>
          <a:xfrm>
            <a:off x="457200" y="1508759"/>
            <a:ext cx="2651761" cy="246888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2" name="Shape 4"/>
          <p:cNvSpPr/>
          <p:nvPr/>
        </p:nvSpPr>
        <p:spPr>
          <a:xfrm>
            <a:off x="658368" y="1709927"/>
            <a:ext cx="310896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3" name="Text 5"/>
          <p:cNvSpPr txBox="1"/>
          <p:nvPr/>
        </p:nvSpPr>
        <p:spPr>
          <a:xfrm>
            <a:off x="658368" y="1773682"/>
            <a:ext cx="31089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14" name="Text 6"/>
          <p:cNvSpPr txBox="1"/>
          <p:nvPr/>
        </p:nvSpPr>
        <p:spPr>
          <a:xfrm>
            <a:off x="658368" y="2197100"/>
            <a:ext cx="22402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Continue fresh</a:t>
            </a:r>
          </a:p>
        </p:txBody>
      </p:sp>
      <p:sp>
        <p:nvSpPr>
          <p:cNvPr id="415" name="Text 7"/>
          <p:cNvSpPr txBox="1"/>
          <p:nvPr/>
        </p:nvSpPr>
        <p:spPr>
          <a:xfrm>
            <a:off x="658368" y="2450592"/>
            <a:ext cx="2240280" cy="679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Session getting heavy? Handoff →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/clear</a:t>
            </a:r>
            <a:r>
              <a:t> → continue from the doc. One distilled page beats 50k tokens of history — same task, fraction of the cost.</a:t>
            </a:r>
          </a:p>
        </p:txBody>
      </p:sp>
      <p:sp>
        <p:nvSpPr>
          <p:cNvPr id="416" name="Shape 8"/>
          <p:cNvSpPr/>
          <p:nvPr/>
        </p:nvSpPr>
        <p:spPr>
          <a:xfrm>
            <a:off x="3246120" y="1508759"/>
            <a:ext cx="2651761" cy="246888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17" name="Shape 9"/>
          <p:cNvSpPr/>
          <p:nvPr/>
        </p:nvSpPr>
        <p:spPr>
          <a:xfrm>
            <a:off x="3447288" y="1709927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8" name="Text 10"/>
          <p:cNvSpPr txBox="1"/>
          <p:nvPr/>
        </p:nvSpPr>
        <p:spPr>
          <a:xfrm>
            <a:off x="3447288" y="1773682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19" name="Text 11"/>
          <p:cNvSpPr txBox="1"/>
          <p:nvPr/>
        </p:nvSpPr>
        <p:spPr>
          <a:xfrm>
            <a:off x="3447288" y="2197100"/>
            <a:ext cx="22402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Cross-model relay</a:t>
            </a:r>
          </a:p>
        </p:txBody>
      </p:sp>
      <p:sp>
        <p:nvSpPr>
          <p:cNvPr id="420" name="Text 12"/>
          <p:cNvSpPr txBox="1"/>
          <p:nvPr/>
        </p:nvSpPr>
        <p:spPr>
          <a:xfrm>
            <a:off x="3447288" y="2450592"/>
            <a:ext cx="2240280" cy="66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Let the expensive model think, the cheap model type: plan or review on the top model, hand the doc to a cheap model to execute.</a:t>
            </a:r>
          </a:p>
        </p:txBody>
      </p:sp>
      <p:sp>
        <p:nvSpPr>
          <p:cNvPr id="421" name="Shape 13"/>
          <p:cNvSpPr/>
          <p:nvPr/>
        </p:nvSpPr>
        <p:spPr>
          <a:xfrm>
            <a:off x="6035040" y="1508759"/>
            <a:ext cx="2651761" cy="246888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2" name="Shape 14"/>
          <p:cNvSpPr/>
          <p:nvPr/>
        </p:nvSpPr>
        <p:spPr>
          <a:xfrm>
            <a:off x="6236208" y="1709927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3" name="Text 15"/>
          <p:cNvSpPr txBox="1"/>
          <p:nvPr/>
        </p:nvSpPr>
        <p:spPr>
          <a:xfrm>
            <a:off x="6236208" y="1773682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24" name="Text 16"/>
          <p:cNvSpPr txBox="1"/>
          <p:nvPr/>
        </p:nvSpPr>
        <p:spPr>
          <a:xfrm>
            <a:off x="6236208" y="2197100"/>
            <a:ext cx="2240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Cross-agent pipelines</a:t>
            </a:r>
          </a:p>
        </p:txBody>
      </p:sp>
      <p:sp>
        <p:nvSpPr>
          <p:cNvPr id="425" name="Text 17"/>
          <p:cNvSpPr txBox="1"/>
          <p:nvPr/>
        </p:nvSpPr>
        <p:spPr>
          <a:xfrm>
            <a:off x="6236208" y="2450592"/>
            <a:ext cx="2240281" cy="66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Review a PR, write the findings into a handoff doc — a second agent implements the changes. The doc is the interface between agents.</a:t>
            </a:r>
          </a:p>
        </p:txBody>
      </p:sp>
      <p:sp>
        <p:nvSpPr>
          <p:cNvPr id="426" name="Text 18"/>
          <p:cNvSpPr txBox="1"/>
          <p:nvPr/>
        </p:nvSpPr>
        <p:spPr>
          <a:xfrm>
            <a:off x="658367" y="4224020"/>
            <a:ext cx="786384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Bonus: a handoff doc is reviewable and versionable.  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You can read, correct and commit what gets carried forward — you can't do that with a context window.</a:t>
            </a:r>
          </a:p>
        </p:txBody>
      </p:sp>
      <p:sp>
        <p:nvSpPr>
          <p:cNvPr id="427" name="Shape 19"/>
          <p:cNvSpPr/>
          <p:nvPr/>
        </p:nvSpPr>
        <p:spPr>
          <a:xfrm>
            <a:off x="457200" y="4160520"/>
            <a:ext cx="25604" cy="457201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28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29" name="Text 20"/>
          <p:cNvSpPr txBox="1"/>
          <p:nvPr/>
        </p:nvSpPr>
        <p:spPr>
          <a:xfrm>
            <a:off x="304495" y="4846828"/>
            <a:ext cx="15101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CONTEXT, SCOPE &amp; PLANNING</a:t>
            </a:r>
          </a:p>
        </p:txBody>
      </p:sp>
      <p:sp>
        <p:nvSpPr>
          <p:cNvPr id="430" name="Text 21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22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03 · ALIGNMENT</a:t>
            </a:r>
          </a:p>
        </p:txBody>
      </p:sp>
      <p:sp>
        <p:nvSpPr>
          <p:cNvPr id="435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Get grilled before a line is written</a:t>
            </a:r>
          </a:p>
        </p:txBody>
      </p:sp>
      <p:sp>
        <p:nvSpPr>
          <p:cNvPr id="436" name="Text 2"/>
          <p:cNvSpPr txBox="1"/>
          <p:nvPr/>
        </p:nvSpPr>
        <p:spPr>
          <a:xfrm>
            <a:off x="475487" y="1280160"/>
            <a:ext cx="4937762" cy="1568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1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#1 failure mode is misalignment,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 not capability. You think it understood; it built something else. Same as with a human dev — nobody knows exactly what they want.</a:t>
            </a:r>
          </a:p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1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Flip the interview.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 Ask the agent to grill you: relentless questions until every branch of the decision tree is resolved (Pocock's </a:t>
            </a:r>
            <a:r>
              <a:rPr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/grill-me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 pattern).</a:t>
            </a:r>
          </a:p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1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Plan mode for anything &gt; 1 file.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 Review the plan, correct it cheaply in prose — not expensively in code review.</a:t>
            </a:r>
          </a:p>
        </p:txBody>
      </p:sp>
      <p:sp>
        <p:nvSpPr>
          <p:cNvPr id="437" name="Shape 3"/>
          <p:cNvSpPr/>
          <p:nvPr/>
        </p:nvSpPr>
        <p:spPr>
          <a:xfrm>
            <a:off x="5760720" y="1280160"/>
            <a:ext cx="2926081" cy="283464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8" name="Shape 4"/>
          <p:cNvSpPr/>
          <p:nvPr/>
        </p:nvSpPr>
        <p:spPr>
          <a:xfrm>
            <a:off x="5760720" y="1280160"/>
            <a:ext cx="2926081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9" name="Text 5"/>
          <p:cNvSpPr txBox="1"/>
          <p:nvPr/>
        </p:nvSpPr>
        <p:spPr>
          <a:xfrm>
            <a:off x="5980176" y="1509267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8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THE MATH</a:t>
            </a:r>
          </a:p>
        </p:txBody>
      </p:sp>
      <p:sp>
        <p:nvSpPr>
          <p:cNvPr id="440" name="Text 6"/>
          <p:cNvSpPr txBox="1"/>
          <p:nvPr/>
        </p:nvSpPr>
        <p:spPr>
          <a:xfrm>
            <a:off x="5980176" y="1783079"/>
            <a:ext cx="2487169" cy="1277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10 minutes of questions</a:t>
            </a:r>
          </a:p>
          <a:p>
            <a:pPr>
              <a:lnSpc>
                <a:spcPct val="120000"/>
              </a:lnSpc>
              <a:spcBef>
                <a:spcPts val="600"/>
              </a:spcBef>
              <a:defRPr sz="11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costs less than</a:t>
            </a:r>
            <a:endParaRPr sz="1300"/>
          </a:p>
          <a:p>
            <a:pPr>
              <a:lnSpc>
                <a:spcPct val="120000"/>
              </a:lnSpc>
              <a:spcBef>
                <a:spcPts val="600"/>
              </a:spcBef>
              <a:defRPr b="1" sz="13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one wrong implementation</a:t>
            </a:r>
          </a:p>
          <a:p>
            <a:pPr>
              <a:lnSpc>
                <a:spcPct val="120000"/>
              </a:lnSpc>
              <a:defRPr sz="11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— in tokens, in time, and in your patience.</a:t>
            </a:r>
          </a:p>
        </p:txBody>
      </p:sp>
      <p:pic>
        <p:nvPicPr>
          <p:cNvPr id="441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42" name="Text 7"/>
          <p:cNvSpPr txBox="1"/>
          <p:nvPr/>
        </p:nvSpPr>
        <p:spPr>
          <a:xfrm>
            <a:off x="304495" y="4846828"/>
            <a:ext cx="15101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CONTEXT, SCOPE &amp; PLANNING</a:t>
            </a:r>
          </a:p>
        </p:txBody>
      </p:sp>
      <p:sp>
        <p:nvSpPr>
          <p:cNvPr id="443" name="Text 8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23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03 · MODEL TIERING</a:t>
            </a:r>
          </a:p>
        </p:txBody>
      </p:sp>
      <p:sp>
        <p:nvSpPr>
          <p:cNvPr id="448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Plan expensive, implement cheap</a:t>
            </a:r>
          </a:p>
        </p:txBody>
      </p:sp>
      <p:sp>
        <p:nvSpPr>
          <p:cNvPr id="449" name="Shape 2"/>
          <p:cNvSpPr/>
          <p:nvPr/>
        </p:nvSpPr>
        <p:spPr>
          <a:xfrm>
            <a:off x="457200" y="1234439"/>
            <a:ext cx="4041648" cy="233172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0" name="Shape 3"/>
          <p:cNvSpPr/>
          <p:nvPr/>
        </p:nvSpPr>
        <p:spPr>
          <a:xfrm>
            <a:off x="457200" y="1234439"/>
            <a:ext cx="4041648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1" name="Text 4"/>
          <p:cNvSpPr txBox="1"/>
          <p:nvPr/>
        </p:nvSpPr>
        <p:spPr>
          <a:xfrm>
            <a:off x="676655" y="1490557"/>
            <a:ext cx="3566161" cy="219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Top model → the plan</a:t>
            </a:r>
          </a:p>
        </p:txBody>
      </p:sp>
      <p:sp>
        <p:nvSpPr>
          <p:cNvPr id="452" name="Text 5"/>
          <p:cNvSpPr txBox="1"/>
          <p:nvPr/>
        </p:nvSpPr>
        <p:spPr>
          <a:xfrm>
            <a:off x="676656" y="1828800"/>
            <a:ext cx="3602736" cy="660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Grilling session + plan mode on the strongest model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This is where judgment lives: trade-offs, edge cases, design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Output: a tight, unambiguous plan</a:t>
            </a:r>
          </a:p>
        </p:txBody>
      </p:sp>
      <p:sp>
        <p:nvSpPr>
          <p:cNvPr id="453" name="Shape 6"/>
          <p:cNvSpPr/>
          <p:nvPr/>
        </p:nvSpPr>
        <p:spPr>
          <a:xfrm>
            <a:off x="4645152" y="1234439"/>
            <a:ext cx="4041648" cy="233172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54" name="Shape 7"/>
          <p:cNvSpPr/>
          <p:nvPr/>
        </p:nvSpPr>
        <p:spPr>
          <a:xfrm>
            <a:off x="4645152" y="1234439"/>
            <a:ext cx="4041648" cy="25604"/>
          </a:xfrm>
          <a:prstGeom prst="rect">
            <a:avLst/>
          </a:prstGeom>
          <a:solidFill>
            <a:srgbClr val="59595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5" name="Text 8"/>
          <p:cNvSpPr txBox="1"/>
          <p:nvPr/>
        </p:nvSpPr>
        <p:spPr>
          <a:xfrm>
            <a:off x="4864608" y="1490557"/>
            <a:ext cx="3566160" cy="219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Cheap model → the code</a:t>
            </a:r>
          </a:p>
        </p:txBody>
      </p:sp>
      <p:sp>
        <p:nvSpPr>
          <p:cNvPr id="456" name="Text 9"/>
          <p:cNvSpPr txBox="1"/>
          <p:nvPr/>
        </p:nvSpPr>
        <p:spPr>
          <a:xfrm>
            <a:off x="4864608" y="1828800"/>
            <a:ext cx="3602737" cy="1257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The relay: handoff →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/clear</a:t>
            </a:r>
            <a:r>
              <a:t> → cheap model implements from the doc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Don't just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/model</a:t>
            </a:r>
            <a:r>
              <a:t> mid-session: the new model drags the full transcript along — more tokens, not fewer</a:t>
            </a:r>
          </a:p>
          <a:p>
            <a:pPr marL="127000" indent="-127000">
              <a:lnSpc>
                <a:spcPct val="125000"/>
              </a:lnSpc>
              <a:spcBef>
                <a:spcPts val="5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A precise plan makes a cheap model perform like an expensive one</a:t>
            </a:r>
          </a:p>
        </p:txBody>
      </p:sp>
      <p:sp>
        <p:nvSpPr>
          <p:cNvPr id="457" name="Text 10"/>
          <p:cNvSpPr txBox="1"/>
          <p:nvPr/>
        </p:nvSpPr>
        <p:spPr>
          <a:xfrm>
            <a:off x="658367" y="3930649"/>
            <a:ext cx="7863842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This is the single biggest cost lever you'll learn today.</a:t>
            </a:r>
            <a:r>
              <a:rPr b="0" sz="1100">
                <a:latin typeface="Aptos Light"/>
                <a:ea typeface="Aptos Light"/>
                <a:cs typeface="Aptos Light"/>
                <a:sym typeface="Aptos Light"/>
              </a:rPr>
              <a:t>  Judgment is scarce and expensive; execution against a good plan is not.</a:t>
            </a:r>
          </a:p>
        </p:txBody>
      </p:sp>
      <p:sp>
        <p:nvSpPr>
          <p:cNvPr id="458" name="Shape 11"/>
          <p:cNvSpPr/>
          <p:nvPr/>
        </p:nvSpPr>
        <p:spPr>
          <a:xfrm>
            <a:off x="457200" y="3840479"/>
            <a:ext cx="25604" cy="548641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59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60" name="Text 12"/>
          <p:cNvSpPr txBox="1"/>
          <p:nvPr/>
        </p:nvSpPr>
        <p:spPr>
          <a:xfrm>
            <a:off x="304495" y="4846828"/>
            <a:ext cx="15101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CONTEXT, SCOPE &amp; PLANNING</a:t>
            </a:r>
          </a:p>
        </p:txBody>
      </p:sp>
      <p:sp>
        <p:nvSpPr>
          <p:cNvPr id="461" name="Text 13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24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03 · WORKTREES</a:t>
            </a:r>
          </a:p>
        </p:txBody>
      </p:sp>
      <p:sp>
        <p:nvSpPr>
          <p:cNvPr id="466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Git worktrees — parallel universes, one repo</a:t>
            </a:r>
          </a:p>
        </p:txBody>
      </p:sp>
      <p:sp>
        <p:nvSpPr>
          <p:cNvPr id="467" name="Text 2"/>
          <p:cNvSpPr txBox="1"/>
          <p:nvPr/>
        </p:nvSpPr>
        <p:spPr>
          <a:xfrm>
            <a:off x="475487" y="1014136"/>
            <a:ext cx="8229601" cy="3400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claude --worktree feature-b</a:t>
            </a:r>
            <a:r>
              <a:rPr b="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rPr>
              <a:t>  — Claude creates a working folder on its own branch and drops you in it. No manual git worktree add, no stashing, no juggling.</a:t>
            </a:r>
          </a:p>
        </p:txBody>
      </p:sp>
      <p:sp>
        <p:nvSpPr>
          <p:cNvPr id="468" name="Shape 3"/>
          <p:cNvSpPr/>
          <p:nvPr/>
        </p:nvSpPr>
        <p:spPr>
          <a:xfrm>
            <a:off x="457200" y="1508759"/>
            <a:ext cx="2651761" cy="246888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9" name="Shape 4"/>
          <p:cNvSpPr/>
          <p:nvPr/>
        </p:nvSpPr>
        <p:spPr>
          <a:xfrm>
            <a:off x="658368" y="1709927"/>
            <a:ext cx="310896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0" name="Text 5"/>
          <p:cNvSpPr txBox="1"/>
          <p:nvPr/>
        </p:nvSpPr>
        <p:spPr>
          <a:xfrm>
            <a:off x="658368" y="1773682"/>
            <a:ext cx="31089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471" name="Text 6"/>
          <p:cNvSpPr txBox="1"/>
          <p:nvPr/>
        </p:nvSpPr>
        <p:spPr>
          <a:xfrm>
            <a:off x="658368" y="2197100"/>
            <a:ext cx="22402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Parallel agents</a:t>
            </a:r>
          </a:p>
        </p:txBody>
      </p:sp>
      <p:sp>
        <p:nvSpPr>
          <p:cNvPr id="472" name="Text 7"/>
          <p:cNvSpPr txBox="1"/>
          <p:nvPr/>
        </p:nvSpPr>
        <p:spPr>
          <a:xfrm>
            <a:off x="658368" y="2450592"/>
            <a:ext cx="2240280" cy="488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Run two agent sessions at once without them stomping each other's files — one fixes a bug while another builds a feature.</a:t>
            </a:r>
          </a:p>
        </p:txBody>
      </p:sp>
      <p:sp>
        <p:nvSpPr>
          <p:cNvPr id="473" name="Shape 8"/>
          <p:cNvSpPr/>
          <p:nvPr/>
        </p:nvSpPr>
        <p:spPr>
          <a:xfrm>
            <a:off x="3246120" y="1508759"/>
            <a:ext cx="2651761" cy="246888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4" name="Shape 9"/>
          <p:cNvSpPr/>
          <p:nvPr/>
        </p:nvSpPr>
        <p:spPr>
          <a:xfrm>
            <a:off x="3447288" y="1709927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75" name="Text 10"/>
          <p:cNvSpPr txBox="1"/>
          <p:nvPr/>
        </p:nvSpPr>
        <p:spPr>
          <a:xfrm>
            <a:off x="3447288" y="1773682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76" name="Text 11"/>
          <p:cNvSpPr txBox="1"/>
          <p:nvPr/>
        </p:nvSpPr>
        <p:spPr>
          <a:xfrm>
            <a:off x="3447288" y="2197100"/>
            <a:ext cx="22402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Compare approaches</a:t>
            </a:r>
          </a:p>
        </p:txBody>
      </p:sp>
      <p:sp>
        <p:nvSpPr>
          <p:cNvPr id="477" name="Text 12"/>
          <p:cNvSpPr txBox="1"/>
          <p:nvPr/>
        </p:nvSpPr>
        <p:spPr>
          <a:xfrm>
            <a:off x="3447288" y="2450592"/>
            <a:ext cx="2240280" cy="66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Same problem, two worktrees, two strategies. Build both, keep the winner, delete the loser. Today's Lab 2 runs exactly like this.</a:t>
            </a:r>
          </a:p>
        </p:txBody>
      </p:sp>
      <p:sp>
        <p:nvSpPr>
          <p:cNvPr id="478" name="Shape 13"/>
          <p:cNvSpPr/>
          <p:nvPr/>
        </p:nvSpPr>
        <p:spPr>
          <a:xfrm>
            <a:off x="6035040" y="1508759"/>
            <a:ext cx="2651761" cy="246888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9" name="Shape 14"/>
          <p:cNvSpPr/>
          <p:nvPr/>
        </p:nvSpPr>
        <p:spPr>
          <a:xfrm>
            <a:off x="6236208" y="1709927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0" name="Text 15"/>
          <p:cNvSpPr txBox="1"/>
          <p:nvPr/>
        </p:nvSpPr>
        <p:spPr>
          <a:xfrm>
            <a:off x="6236208" y="1773682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81" name="Text 16"/>
          <p:cNvSpPr txBox="1"/>
          <p:nvPr/>
        </p:nvSpPr>
        <p:spPr>
          <a:xfrm>
            <a:off x="6236208" y="2197100"/>
            <a:ext cx="2240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Clean review space</a:t>
            </a:r>
          </a:p>
        </p:txBody>
      </p:sp>
      <p:sp>
        <p:nvSpPr>
          <p:cNvPr id="482" name="Text 17"/>
          <p:cNvSpPr txBox="1"/>
          <p:nvPr/>
        </p:nvSpPr>
        <p:spPr>
          <a:xfrm>
            <a:off x="6236208" y="2450592"/>
            <a:ext cx="2240281" cy="488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The agent churns in its worktree; your own checkout stays untouched for review, hotfixes, and honest diffs.</a:t>
            </a:r>
          </a:p>
        </p:txBody>
      </p:sp>
      <p:sp>
        <p:nvSpPr>
          <p:cNvPr id="483" name="Text 18"/>
          <p:cNvSpPr txBox="1"/>
          <p:nvPr/>
        </p:nvSpPr>
        <p:spPr>
          <a:xfrm>
            <a:off x="475487" y="4215129"/>
            <a:ext cx="82296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Agents make parallel work cheap — worktrees make it safe. They're the natural pairing.</a:t>
            </a:r>
          </a:p>
        </p:txBody>
      </p:sp>
      <p:pic>
        <p:nvPicPr>
          <p:cNvPr id="484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485" name="Text 19"/>
          <p:cNvSpPr txBox="1"/>
          <p:nvPr/>
        </p:nvSpPr>
        <p:spPr>
          <a:xfrm>
            <a:off x="304495" y="4846828"/>
            <a:ext cx="15101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CONTEXT, SCOPE &amp; PLANNING</a:t>
            </a:r>
          </a:p>
        </p:txBody>
      </p:sp>
      <p:sp>
        <p:nvSpPr>
          <p:cNvPr id="486" name="Text 20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25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CONTEXT, SCOPE &amp; PLANNING · HANDS-ON</a:t>
            </a:r>
          </a:p>
        </p:txBody>
      </p:sp>
      <p:sp>
        <p:nvSpPr>
          <p:cNvPr id="491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Lab 2 — One-shot vs. aligned</a:t>
            </a:r>
          </a:p>
        </p:txBody>
      </p:sp>
      <p:sp>
        <p:nvSpPr>
          <p:cNvPr id="492" name="Text 2"/>
          <p:cNvSpPr txBox="1"/>
          <p:nvPr/>
        </p:nvSpPr>
        <p:spPr>
          <a:xfrm>
            <a:off x="475487" y="1057655"/>
            <a:ext cx="3200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60 MIN · SOLO · BOTH SCENARIOS</a:t>
            </a:r>
          </a:p>
        </p:txBody>
      </p:sp>
      <p:sp>
        <p:nvSpPr>
          <p:cNvPr id="493" name="Text 3"/>
          <p:cNvSpPr txBox="1"/>
          <p:nvPr/>
        </p:nvSpPr>
        <p:spPr>
          <a:xfrm>
            <a:off x="475487" y="1417319"/>
            <a:ext cx="5120642" cy="2196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1.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Write BOTH prompts up front: one-shot + grilling kickoff. No edits after. Target: both backlog features — edit a todo, and filter the list</a:t>
            </a:r>
          </a:p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2.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Let Claude own the worktrees — start each round with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claude --worktree lab2-oneshot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 and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claude --worktree lab2-plan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. It creates and enters each one. No manual git</a:t>
            </a:r>
          </a:p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3.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Round 1 in lab2-oneshot: fire the one-shot prompt on the default model. Take what you get</a:t>
            </a:r>
          </a:p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4.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Round 2 in lab2-plan: grill on the top model → handoff →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/clear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 → implement on a cheap model</a:t>
            </a:r>
          </a:p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5.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Compare your own two results: correctness, code quality, total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/cost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. Numbers on the board</a:t>
            </a:r>
          </a:p>
        </p:txBody>
      </p:sp>
      <p:sp>
        <p:nvSpPr>
          <p:cNvPr id="494" name="Shape 4"/>
          <p:cNvSpPr/>
          <p:nvPr/>
        </p:nvSpPr>
        <p:spPr>
          <a:xfrm>
            <a:off x="5989320" y="1417319"/>
            <a:ext cx="2697481" cy="283464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5" name="Shape 5"/>
          <p:cNvSpPr/>
          <p:nvPr/>
        </p:nvSpPr>
        <p:spPr>
          <a:xfrm>
            <a:off x="5989320" y="1417319"/>
            <a:ext cx="2697481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6" name="Text 6"/>
          <p:cNvSpPr txBox="1"/>
          <p:nvPr/>
        </p:nvSpPr>
        <p:spPr>
          <a:xfrm>
            <a:off x="5989320" y="2865120"/>
            <a:ext cx="2496313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8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497" name="Text 7"/>
          <p:cNvSpPr txBox="1"/>
          <p:nvPr/>
        </p:nvSpPr>
        <p:spPr>
          <a:xfrm>
            <a:off x="6190488" y="1655572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8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DONE WHEN</a:t>
            </a:r>
          </a:p>
        </p:txBody>
      </p:sp>
      <p:sp>
        <p:nvSpPr>
          <p:cNvPr id="498" name="Text 8"/>
          <p:cNvSpPr txBox="1"/>
          <p:nvPr/>
        </p:nvSpPr>
        <p:spPr>
          <a:xfrm>
            <a:off x="6190488" y="1920239"/>
            <a:ext cx="2286001" cy="695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0000"/>
              </a:lnSpc>
              <a:spcBef>
                <a:spcPts val="7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Both versions build and run</a:t>
            </a:r>
          </a:p>
          <a:p>
            <a:pPr marL="127000" indent="-127000">
              <a:lnSpc>
                <a:spcPct val="120000"/>
              </a:lnSpc>
              <a:spcBef>
                <a:spcPts val="7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You compared your own pair honestly</a:t>
            </a:r>
          </a:p>
          <a:p>
            <a:pPr marL="127000" indent="-127000">
              <a:lnSpc>
                <a:spcPct val="120000"/>
              </a:lnSpc>
              <a:spcBef>
                <a:spcPts val="7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Costs for both rounds on the board</a:t>
            </a:r>
          </a:p>
        </p:txBody>
      </p:sp>
      <p:pic>
        <p:nvPicPr>
          <p:cNvPr id="499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0" name="Text 9"/>
          <p:cNvSpPr txBox="1"/>
          <p:nvPr/>
        </p:nvSpPr>
        <p:spPr>
          <a:xfrm>
            <a:off x="304495" y="4846828"/>
            <a:ext cx="1510159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CONTEXT, SCOPE &amp; PLANNING</a:t>
            </a:r>
          </a:p>
        </p:txBody>
      </p:sp>
      <p:sp>
        <p:nvSpPr>
          <p:cNvPr id="501" name="Text 10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26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Text 0"/>
          <p:cNvSpPr txBox="1"/>
          <p:nvPr/>
        </p:nvSpPr>
        <p:spPr>
          <a:xfrm>
            <a:off x="475487" y="1521205"/>
            <a:ext cx="7315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F0424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04 · 13:15</a:t>
            </a:r>
          </a:p>
        </p:txBody>
      </p:sp>
      <p:sp>
        <p:nvSpPr>
          <p:cNvPr id="506" name="Text 1"/>
          <p:cNvSpPr txBox="1"/>
          <p:nvPr/>
        </p:nvSpPr>
        <p:spPr>
          <a:xfrm>
            <a:off x="475488" y="1974849"/>
            <a:ext cx="81381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Skills — automate yourself</a:t>
            </a:r>
          </a:p>
        </p:txBody>
      </p:sp>
      <p:sp>
        <p:nvSpPr>
          <p:cNvPr id="507" name="Text 2"/>
          <p:cNvSpPr txBox="1"/>
          <p:nvPr/>
        </p:nvSpPr>
        <p:spPr>
          <a:xfrm>
            <a:off x="475487" y="2837180"/>
            <a:ext cx="74980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FBFB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The heart of the day: noticing repetition, and turning it into tooling. Not a framework to adopt — a reflex to build.</a:t>
            </a:r>
          </a:p>
        </p:txBody>
      </p:sp>
      <p:pic>
        <p:nvPicPr>
          <p:cNvPr id="508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09" name="Text 3"/>
          <p:cNvSpPr txBox="1"/>
          <p:nvPr/>
        </p:nvSpPr>
        <p:spPr>
          <a:xfrm>
            <a:off x="304495" y="4846828"/>
            <a:ext cx="8358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04 · 13:15</a:t>
            </a:r>
          </a:p>
        </p:txBody>
      </p:sp>
      <p:sp>
        <p:nvSpPr>
          <p:cNvPr id="510" name="Text 4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27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04 · ANATOMY</a:t>
            </a:r>
          </a:p>
        </p:txBody>
      </p:sp>
      <p:sp>
        <p:nvSpPr>
          <p:cNvPr id="515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What a skill actually looks like</a:t>
            </a:r>
          </a:p>
        </p:txBody>
      </p:sp>
      <p:sp>
        <p:nvSpPr>
          <p:cNvPr id="516" name="Shape 2"/>
          <p:cNvSpPr/>
          <p:nvPr/>
        </p:nvSpPr>
        <p:spPr>
          <a:xfrm>
            <a:off x="457199" y="1234439"/>
            <a:ext cx="4892042" cy="3200401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7" name="Text 3"/>
          <p:cNvSpPr txBox="1"/>
          <p:nvPr/>
        </p:nvSpPr>
        <p:spPr>
          <a:xfrm>
            <a:off x="676656" y="1408683"/>
            <a:ext cx="44805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.claude/skills/deslop/SKILL.md</a:t>
            </a:r>
          </a:p>
        </p:txBody>
      </p:sp>
      <p:sp>
        <p:nvSpPr>
          <p:cNvPr id="518" name="Text 4"/>
          <p:cNvSpPr txBox="1"/>
          <p:nvPr/>
        </p:nvSpPr>
        <p:spPr>
          <a:xfrm>
            <a:off x="676656" y="1664207"/>
            <a:ext cx="4480560" cy="19243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8000"/>
              </a:lnSpc>
              <a:defRPr sz="900">
                <a:solidFill>
                  <a:srgbClr val="5A5A5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---</a:t>
            </a:r>
          </a:p>
          <a:p>
            <a:pPr>
              <a:lnSpc>
                <a:spcPct val="128000"/>
              </a:lnSpc>
              <a:defRPr sz="900">
                <a:solidFill>
                  <a:srgbClr val="F0424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name:</a:t>
            </a:r>
            <a:r>
              <a:rPr>
                <a:solidFill>
                  <a:srgbClr val="FFFFFF"/>
                </a:solidFill>
              </a:rPr>
              <a:t> deslop</a:t>
            </a:r>
          </a:p>
          <a:p>
            <a:pPr>
              <a:lnSpc>
                <a:spcPct val="128000"/>
              </a:lnSpc>
              <a:defRPr sz="900">
                <a:solidFill>
                  <a:srgbClr val="F04242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description:</a:t>
            </a:r>
            <a:r>
              <a:rPr>
                <a:solidFill>
                  <a:srgbClr val="FFFFFF"/>
                </a:solidFill>
              </a:rPr>
              <a:t> Clean AI-slop from code and prose.</a:t>
            </a:r>
          </a:p>
          <a:p>
            <a:pPr>
              <a:lnSpc>
                <a:spcPct val="128000"/>
              </a:lnSpc>
              <a:defRPr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</a:t>
            </a:r>
            <a:r>
              <a:rPr>
                <a:solidFill>
                  <a:srgbClr val="FFD24D"/>
                </a:solidFill>
              </a:rPr>
              <a:t>Use when the user asks to “deslop”, or after</a:t>
            </a:r>
          </a:p>
          <a:p>
            <a:pPr>
              <a:lnSpc>
                <a:spcPct val="128000"/>
              </a:lnSpc>
              <a:defRPr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</a:t>
            </a:r>
            <a:r>
              <a:rPr>
                <a:solidFill>
                  <a:srgbClr val="FFD24D"/>
                </a:solidFill>
              </a:rPr>
              <a:t>generating a large amount of code</a:t>
            </a:r>
            <a:r>
              <a:t> — strip filler</a:t>
            </a:r>
          </a:p>
          <a:p>
            <a:pPr>
              <a:lnSpc>
                <a:spcPct val="128000"/>
              </a:lnSpc>
              <a:defRPr sz="9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comments, over-abstraction, hedging prose.</a:t>
            </a:r>
          </a:p>
          <a:p>
            <a:pPr>
              <a:lnSpc>
                <a:spcPct val="128000"/>
              </a:lnSpc>
              <a:defRPr sz="900">
                <a:solidFill>
                  <a:srgbClr val="5A5A5A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---</a:t>
            </a:r>
          </a:p>
          <a:p>
            <a:pPr>
              <a:lnSpc>
                <a:spcPct val="128000"/>
              </a:lnSpc>
              <a:defRPr sz="900"/>
            </a:pP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1. Remove comments that restate the code.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2. Inline any abstraction with a single caller.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3. Delete hedging language from docs and messages.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4. Report what you removed, in one line.</a:t>
            </a:r>
          </a:p>
        </p:txBody>
      </p:sp>
      <p:sp>
        <p:nvSpPr>
          <p:cNvPr id="519" name="Text 5"/>
          <p:cNvSpPr txBox="1"/>
          <p:nvPr/>
        </p:nvSpPr>
        <p:spPr>
          <a:xfrm>
            <a:off x="5669279" y="1371600"/>
            <a:ext cx="3017521" cy="16494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0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name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 becomes the slash command: </a:t>
            </a:r>
            <a:r>
              <a:rPr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/deslop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.</a:t>
            </a:r>
          </a:p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0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description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 is the only part that's always in context — it's the trigger surface. The “Use when…” phrases (gold) are what the model matches against your request.</a:t>
            </a:r>
          </a:p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0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The body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 loads only when triggered — progressive disclosure. Opinions and steps live here, token-free until needed.</a:t>
            </a:r>
          </a:p>
        </p:txBody>
      </p:sp>
      <p:sp>
        <p:nvSpPr>
          <p:cNvPr id="520" name="Text 6"/>
          <p:cNvSpPr txBox="1"/>
          <p:nvPr/>
        </p:nvSpPr>
        <p:spPr>
          <a:xfrm>
            <a:off x="475487" y="4623815"/>
            <a:ext cx="8229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00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It graduates to a skill when you've pasted the same instructions twice.</a:t>
            </a:r>
          </a:p>
        </p:txBody>
      </p:sp>
      <p:pic>
        <p:nvPicPr>
          <p:cNvPr id="521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22" name="Text 7"/>
          <p:cNvSpPr txBox="1"/>
          <p:nvPr/>
        </p:nvSpPr>
        <p:spPr>
          <a:xfrm>
            <a:off x="304495" y="4846828"/>
            <a:ext cx="16008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SKILLS — AUTOMATE YOURSELF</a:t>
            </a:r>
          </a:p>
        </p:txBody>
      </p:sp>
      <p:sp>
        <p:nvSpPr>
          <p:cNvPr id="523" name="Text 8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28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04 · TRIGGERING</a:t>
            </a:r>
          </a:p>
        </p:txBody>
      </p:sp>
      <p:sp>
        <p:nvSpPr>
          <p:cNvPr id="528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Two ways in — and how to control them</a:t>
            </a:r>
          </a:p>
        </p:txBody>
      </p:sp>
      <p:sp>
        <p:nvSpPr>
          <p:cNvPr id="529" name="Shape 2"/>
          <p:cNvSpPr/>
          <p:nvPr/>
        </p:nvSpPr>
        <p:spPr>
          <a:xfrm>
            <a:off x="457200" y="1234439"/>
            <a:ext cx="4041648" cy="13716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0" name="Text 3"/>
          <p:cNvSpPr txBox="1"/>
          <p:nvPr/>
        </p:nvSpPr>
        <p:spPr>
          <a:xfrm>
            <a:off x="676655" y="1452880"/>
            <a:ext cx="35661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User-invoked</a:t>
            </a:r>
          </a:p>
        </p:txBody>
      </p:sp>
      <p:sp>
        <p:nvSpPr>
          <p:cNvPr id="531" name="Text 4"/>
          <p:cNvSpPr txBox="1"/>
          <p:nvPr/>
        </p:nvSpPr>
        <p:spPr>
          <a:xfrm>
            <a:off x="676656" y="1737360"/>
            <a:ext cx="3602736" cy="354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You type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/deslop</a:t>
            </a:r>
            <a:r>
              <a:t>. Deliberate, predictable — always available for any skill.</a:t>
            </a:r>
          </a:p>
        </p:txBody>
      </p:sp>
      <p:sp>
        <p:nvSpPr>
          <p:cNvPr id="532" name="Shape 5"/>
          <p:cNvSpPr/>
          <p:nvPr/>
        </p:nvSpPr>
        <p:spPr>
          <a:xfrm>
            <a:off x="4645152" y="1234439"/>
            <a:ext cx="4041648" cy="13716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3" name="Text 6"/>
          <p:cNvSpPr txBox="1"/>
          <p:nvPr/>
        </p:nvSpPr>
        <p:spPr>
          <a:xfrm>
            <a:off x="4864608" y="1452880"/>
            <a:ext cx="356616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Model-invoked</a:t>
            </a:r>
          </a:p>
        </p:txBody>
      </p:sp>
      <p:sp>
        <p:nvSpPr>
          <p:cNvPr id="534" name="Text 7"/>
          <p:cNvSpPr txBox="1"/>
          <p:nvPr/>
        </p:nvSpPr>
        <p:spPr>
          <a:xfrm>
            <a:off x="4864608" y="1737360"/>
            <a:ext cx="3602737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You say “clean this up” — the agent matches the description and loads the skill itself. No command typed.</a:t>
            </a:r>
          </a:p>
        </p:txBody>
      </p:sp>
      <p:sp>
        <p:nvSpPr>
          <p:cNvPr id="535" name="Shape 8"/>
          <p:cNvSpPr/>
          <p:nvPr/>
        </p:nvSpPr>
        <p:spPr>
          <a:xfrm>
            <a:off x="457200" y="2788920"/>
            <a:ext cx="4041648" cy="16002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36" name="Shape 9"/>
          <p:cNvSpPr/>
          <p:nvPr/>
        </p:nvSpPr>
        <p:spPr>
          <a:xfrm>
            <a:off x="457200" y="2788920"/>
            <a:ext cx="4041648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37" name="Text 10"/>
          <p:cNvSpPr txBox="1"/>
          <p:nvPr/>
        </p:nvSpPr>
        <p:spPr>
          <a:xfrm>
            <a:off x="676655" y="2975101"/>
            <a:ext cx="356616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disable-model-invocation: true</a:t>
            </a:r>
          </a:p>
        </p:txBody>
      </p:sp>
      <p:sp>
        <p:nvSpPr>
          <p:cNvPr id="538" name="Text 11"/>
          <p:cNvSpPr txBox="1"/>
          <p:nvPr/>
        </p:nvSpPr>
        <p:spPr>
          <a:xfrm>
            <a:off x="676656" y="3218688"/>
            <a:ext cx="3602736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Slash-command only — the model can never trigger it on its own. Use for anything with side effects: deploy, commit, send a message. You control the timing.</a:t>
            </a:r>
          </a:p>
        </p:txBody>
      </p:sp>
      <p:sp>
        <p:nvSpPr>
          <p:cNvPr id="539" name="Shape 12"/>
          <p:cNvSpPr/>
          <p:nvPr/>
        </p:nvSpPr>
        <p:spPr>
          <a:xfrm>
            <a:off x="4645152" y="2788920"/>
            <a:ext cx="4041648" cy="16002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0" name="Shape 13"/>
          <p:cNvSpPr/>
          <p:nvPr/>
        </p:nvSpPr>
        <p:spPr>
          <a:xfrm>
            <a:off x="4645152" y="2788920"/>
            <a:ext cx="4041648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41" name="Text 14"/>
          <p:cNvSpPr txBox="1"/>
          <p:nvPr/>
        </p:nvSpPr>
        <p:spPr>
          <a:xfrm>
            <a:off x="4864608" y="2975101"/>
            <a:ext cx="35661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allowed-tools: Bash(git *), Read</a:t>
            </a:r>
          </a:p>
        </p:txBody>
      </p:sp>
      <p:sp>
        <p:nvSpPr>
          <p:cNvPr id="542" name="Text 15"/>
          <p:cNvSpPr txBox="1"/>
          <p:nvPr/>
        </p:nvSpPr>
        <p:spPr>
          <a:xfrm>
            <a:off x="4864608" y="3218688"/>
            <a:ext cx="3602737" cy="533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Pre-approves the listed tools while the skill runs — no permission prompts mid-flow. Everything else still follows your normal permission rules.</a:t>
            </a:r>
          </a:p>
        </p:txBody>
      </p:sp>
      <p:sp>
        <p:nvSpPr>
          <p:cNvPr id="543" name="Text 16"/>
          <p:cNvSpPr txBox="1"/>
          <p:nvPr/>
        </p:nvSpPr>
        <p:spPr>
          <a:xfrm>
            <a:off x="475487" y="4623815"/>
            <a:ext cx="82296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i="1" sz="100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This is called </a:t>
            </a:r>
            <a:r>
              <a:rPr b="1"/>
              <a:t>Frontmatter</a:t>
            </a:r>
            <a:r>
              <a:t> - You can find the docs </a:t>
            </a:r>
            <a:r>
              <a:rPr u="sng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hlinkClick r:id="rId3" invalidUrl="" action="" tgtFrame="" tooltip="" history="1" highlightClick="0" endSnd="0"/>
              </a:rPr>
              <a:t>here</a:t>
            </a:r>
            <a:r>
              <a:t>! - There are more examples and they are specific to the harness aswel!</a:t>
            </a:r>
          </a:p>
        </p:txBody>
      </p:sp>
      <p:pic>
        <p:nvPicPr>
          <p:cNvPr id="544" name="Image 0" descr="Image 0"/>
          <p:cNvPicPr>
            <a:picLocks noChangeAspect="1"/>
          </p:cNvPicPr>
          <p:nvPr/>
        </p:nvPicPr>
        <p:blipFill>
          <a:blip r:embed="rId4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45" name="Text 17"/>
          <p:cNvSpPr txBox="1"/>
          <p:nvPr/>
        </p:nvSpPr>
        <p:spPr>
          <a:xfrm>
            <a:off x="304495" y="4846828"/>
            <a:ext cx="16008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SKILLS — AUTOMATE YOURSELF</a:t>
            </a:r>
          </a:p>
        </p:txBody>
      </p:sp>
      <p:sp>
        <p:nvSpPr>
          <p:cNvPr id="546" name="Text 18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29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04 · CHOOSING THE ARTIFACT</a:t>
            </a:r>
          </a:p>
        </p:txBody>
      </p:sp>
      <p:sp>
        <p:nvSpPr>
          <p:cNvPr id="551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Rules vs. commands vs. skills</a:t>
            </a:r>
          </a:p>
        </p:txBody>
      </p:sp>
      <p:graphicFrame>
        <p:nvGraphicFramePr>
          <p:cNvPr id="552" name="Table 0"/>
          <p:cNvGraphicFramePr/>
          <p:nvPr/>
        </p:nvGraphicFramePr>
        <p:xfrm>
          <a:off x="457200" y="1280160"/>
          <a:ext cx="8229600" cy="2395729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554480"/>
                <a:gridCol w="2103120"/>
                <a:gridCol w="1737360"/>
                <a:gridCol w="2834640"/>
              </a:tblGrid>
              <a:tr h="38404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ARTIFACT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WHAT IT ENCODES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WHEN LOADED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900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USE FOR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3F4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D01111"/>
                          </a:solidFill>
                          <a:latin typeface="Aptos ExtraBold"/>
                          <a:ea typeface="Aptos ExtraBold"/>
                          <a:cs typeface="Aptos ExtraBold"/>
                          <a:sym typeface="Aptos ExtraBold"/>
                        </a:rPr>
                        <a:t>Rule (CLAUDE.md)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A fact or constraint — always true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Every session, every request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Conventions, hard limits, gotchas — keep it lean, every word pays rent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D01111"/>
                          </a:solidFill>
                          <a:latin typeface="Aptos ExtraBold"/>
                          <a:ea typeface="Aptos ExtraBold"/>
                          <a:cs typeface="Aptos ExtraBold"/>
                          <a:sym typeface="Aptos ExtraBold"/>
                        </a:rPr>
                        <a:t>Command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A fixed, frequent action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When you type it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Deterministic shortcuts — no judgment involved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9FAF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000">
                          <a:solidFill>
                            <a:srgbClr val="D01111"/>
                          </a:solidFill>
                          <a:latin typeface="Aptos ExtraBold"/>
                          <a:ea typeface="Aptos ExtraBold"/>
                          <a:cs typeface="Aptos ExtraBold"/>
                          <a:sym typeface="Aptos ExtraBold"/>
                        </a:rPr>
                        <a:t>Skill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A process with steps, opinions &amp; judgment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Only when relevant (progressive disclosure)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111111"/>
                          </a:solidFill>
                          <a:latin typeface="Aptos"/>
                          <a:ea typeface="Aptos"/>
                          <a:cs typeface="Aptos"/>
                          <a:sym typeface="Aptos"/>
                        </a:rPr>
                        <a:t>Repeatable workflows: reviews, debugging, ticket writing, releases</a:t>
                      </a:r>
                    </a:p>
                  </a:txBody>
                  <a:tcPr marL="82296" marR="82296" marT="82296" marB="82296" anchor="ctr" anchorCtr="0" horzOverflow="overflow">
                    <a:lnL w="12700">
                      <a:miter lim="400000"/>
                    </a:lnL>
                    <a:lnR w="12700">
                      <a:miter lim="400000"/>
                    </a:lnR>
                    <a:lnT w="12700">
                      <a:miter lim="400000"/>
                    </a:lnT>
                    <a:lnB w="12700"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3" name="Shape 2"/>
          <p:cNvSpPr/>
          <p:nvPr/>
        </p:nvSpPr>
        <p:spPr>
          <a:xfrm>
            <a:off x="457200" y="1655064"/>
            <a:ext cx="8229600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54" name="Text 3"/>
          <p:cNvSpPr txBox="1"/>
          <p:nvPr/>
        </p:nvSpPr>
        <p:spPr>
          <a:xfrm>
            <a:off x="475487" y="4155258"/>
            <a:ext cx="8229601" cy="193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Rule of thumb:  fact → CLAUDE.md   ·   action → command   ·   process → skill</a:t>
            </a:r>
          </a:p>
        </p:txBody>
      </p:sp>
      <p:pic>
        <p:nvPicPr>
          <p:cNvPr id="555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56" name="Text 4"/>
          <p:cNvSpPr txBox="1"/>
          <p:nvPr/>
        </p:nvSpPr>
        <p:spPr>
          <a:xfrm>
            <a:off x="304495" y="4846828"/>
            <a:ext cx="16008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SKILLS — AUTOMATE YOURSELF</a:t>
            </a:r>
          </a:p>
        </p:txBody>
      </p:sp>
      <p:sp>
        <p:nvSpPr>
          <p:cNvPr id="557" name="Text 5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30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04 · REFERENCE, NOT FRAMEWORK</a:t>
            </a:r>
          </a:p>
        </p:txBody>
      </p:sp>
      <p:sp>
        <p:nvSpPr>
          <p:cNvPr id="562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Reading the masters: Pocock's library</a:t>
            </a:r>
          </a:p>
        </p:txBody>
      </p:sp>
      <p:sp>
        <p:nvSpPr>
          <p:cNvPr id="563" name="Shape 2"/>
          <p:cNvSpPr/>
          <p:nvPr/>
        </p:nvSpPr>
        <p:spPr>
          <a:xfrm>
            <a:off x="457200" y="1234439"/>
            <a:ext cx="2651761" cy="25146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4" name="Text 3"/>
          <p:cNvSpPr txBox="1"/>
          <p:nvPr/>
        </p:nvSpPr>
        <p:spPr>
          <a:xfrm>
            <a:off x="658368" y="1445259"/>
            <a:ext cx="219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8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PROCESS</a:t>
            </a:r>
          </a:p>
        </p:txBody>
      </p:sp>
      <p:sp>
        <p:nvSpPr>
          <p:cNvPr id="565" name="Text 4"/>
          <p:cNvSpPr txBox="1"/>
          <p:nvPr/>
        </p:nvSpPr>
        <p:spPr>
          <a:xfrm>
            <a:off x="658368" y="1693417"/>
            <a:ext cx="21945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/tdd</a:t>
            </a:r>
          </a:p>
        </p:txBody>
      </p:sp>
      <p:sp>
        <p:nvSpPr>
          <p:cNvPr id="566" name="Text 5"/>
          <p:cNvSpPr txBox="1"/>
          <p:nvPr/>
        </p:nvSpPr>
        <p:spPr>
          <a:xfrm>
            <a:off x="658368" y="2011679"/>
            <a:ext cx="2240280" cy="488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Encodes red-green-refactor and opinions on what makes a good test. The agent doesn't just write tests — it follows a discipline.</a:t>
            </a:r>
          </a:p>
        </p:txBody>
      </p:sp>
      <p:sp>
        <p:nvSpPr>
          <p:cNvPr id="567" name="Shape 6"/>
          <p:cNvSpPr/>
          <p:nvPr/>
        </p:nvSpPr>
        <p:spPr>
          <a:xfrm>
            <a:off x="3246120" y="1234439"/>
            <a:ext cx="2651761" cy="25146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8" name="Text 7"/>
          <p:cNvSpPr txBox="1"/>
          <p:nvPr/>
        </p:nvSpPr>
        <p:spPr>
          <a:xfrm>
            <a:off x="3447288" y="1445259"/>
            <a:ext cx="219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8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DISCIPLINE</a:t>
            </a:r>
          </a:p>
        </p:txBody>
      </p:sp>
      <p:sp>
        <p:nvSpPr>
          <p:cNvPr id="569" name="Text 8"/>
          <p:cNvSpPr txBox="1"/>
          <p:nvPr/>
        </p:nvSpPr>
        <p:spPr>
          <a:xfrm>
            <a:off x="3447288" y="1693417"/>
            <a:ext cx="21945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/diagnosing-bugs</a:t>
            </a:r>
          </a:p>
        </p:txBody>
      </p:sp>
      <p:sp>
        <p:nvSpPr>
          <p:cNvPr id="570" name="Text 9"/>
          <p:cNvSpPr txBox="1"/>
          <p:nvPr/>
        </p:nvSpPr>
        <p:spPr>
          <a:xfrm>
            <a:off x="3447288" y="2011679"/>
            <a:ext cx="2240280" cy="494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Reproduce → minimise → hypothesise → instrument → fix → regression-test. Debugging as a loop, not a vibe.</a:t>
            </a:r>
          </a:p>
        </p:txBody>
      </p:sp>
      <p:sp>
        <p:nvSpPr>
          <p:cNvPr id="571" name="Shape 10"/>
          <p:cNvSpPr/>
          <p:nvPr/>
        </p:nvSpPr>
        <p:spPr>
          <a:xfrm>
            <a:off x="6035040" y="1234439"/>
            <a:ext cx="2651761" cy="25146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72" name="Text 11"/>
          <p:cNvSpPr txBox="1"/>
          <p:nvPr/>
        </p:nvSpPr>
        <p:spPr>
          <a:xfrm>
            <a:off x="6236208" y="1445259"/>
            <a:ext cx="21945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8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CONVENTION</a:t>
            </a:r>
          </a:p>
        </p:txBody>
      </p:sp>
      <p:sp>
        <p:nvSpPr>
          <p:cNvPr id="573" name="Text 12"/>
          <p:cNvSpPr txBox="1"/>
          <p:nvPr/>
        </p:nvSpPr>
        <p:spPr>
          <a:xfrm>
            <a:off x="6236208" y="1693417"/>
            <a:ext cx="219456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/code-review</a:t>
            </a:r>
          </a:p>
        </p:txBody>
      </p:sp>
      <p:sp>
        <p:nvSpPr>
          <p:cNvPr id="574" name="Text 13"/>
          <p:cNvSpPr txBox="1"/>
          <p:nvPr/>
        </p:nvSpPr>
        <p:spPr>
          <a:xfrm>
            <a:off x="6236208" y="2011679"/>
            <a:ext cx="2240281" cy="488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Uses concepts based on Matt Fowler’s </a:t>
            </a:r>
            <a:r>
              <a:rPr b="1"/>
              <a:t>Refactoring</a:t>
            </a:r>
            <a:r>
              <a:t> book and puts it into a skill you can use on the fly.</a:t>
            </a:r>
          </a:p>
        </p:txBody>
      </p:sp>
      <p:sp>
        <p:nvSpPr>
          <p:cNvPr id="575" name="Text 14"/>
          <p:cNvSpPr txBox="1"/>
          <p:nvPr/>
        </p:nvSpPr>
        <p:spPr>
          <a:xfrm>
            <a:off x="475487" y="3966210"/>
            <a:ext cx="82296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Steal the patterns, not the files.</a:t>
            </a:r>
            <a:r>
              <a:rPr b="0" sz="1100">
                <a:latin typeface="Aptos Light"/>
                <a:ea typeface="Aptos Light"/>
                <a:cs typeface="Aptos Light"/>
                <a:sym typeface="Aptos Light"/>
              </a:rPr>
              <a:t>  Good skills are small, composable, opinionated — and encode conventions as much as technique.</a:t>
            </a:r>
          </a:p>
        </p:txBody>
      </p:sp>
      <p:pic>
        <p:nvPicPr>
          <p:cNvPr id="576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577" name="Text 15"/>
          <p:cNvSpPr txBox="1"/>
          <p:nvPr/>
        </p:nvSpPr>
        <p:spPr>
          <a:xfrm>
            <a:off x="304495" y="4846828"/>
            <a:ext cx="16008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SKILLS — AUTOMATE YOURSELF</a:t>
            </a:r>
          </a:p>
        </p:txBody>
      </p:sp>
      <p:sp>
        <p:nvSpPr>
          <p:cNvPr id="578" name="Text 16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31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04 · COMPOSITION</a:t>
            </a:r>
          </a:p>
        </p:txBody>
      </p:sp>
      <p:sp>
        <p:nvSpPr>
          <p:cNvPr id="583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Skills compose — small parts, real pipelines</a:t>
            </a:r>
          </a:p>
        </p:txBody>
      </p:sp>
      <p:sp>
        <p:nvSpPr>
          <p:cNvPr id="584" name="Text 2"/>
          <p:cNvSpPr txBox="1"/>
          <p:nvPr/>
        </p:nvSpPr>
        <p:spPr>
          <a:xfrm>
            <a:off x="475487" y="1096686"/>
            <a:ext cx="8229601" cy="174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Because skills are just instructions, a skill can invoke other skills. Example: a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/pr-review-handoff</a:t>
            </a:r>
            <a:r>
              <a:t> skill —</a:t>
            </a:r>
          </a:p>
        </p:txBody>
      </p:sp>
      <p:sp>
        <p:nvSpPr>
          <p:cNvPr id="585" name="Shape 3"/>
          <p:cNvSpPr/>
          <p:nvPr/>
        </p:nvSpPr>
        <p:spPr>
          <a:xfrm>
            <a:off x="457200" y="1508760"/>
            <a:ext cx="1901951" cy="25146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6" name="Shape 4"/>
          <p:cNvSpPr/>
          <p:nvPr/>
        </p:nvSpPr>
        <p:spPr>
          <a:xfrm>
            <a:off x="457200" y="1508760"/>
            <a:ext cx="1901951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87" name="Text 5"/>
          <p:cNvSpPr txBox="1"/>
          <p:nvPr/>
        </p:nvSpPr>
        <p:spPr>
          <a:xfrm>
            <a:off x="1581911" y="1595627"/>
            <a:ext cx="62179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3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588" name="Text 6"/>
          <p:cNvSpPr txBox="1"/>
          <p:nvPr/>
        </p:nvSpPr>
        <p:spPr>
          <a:xfrm>
            <a:off x="621791" y="2176017"/>
            <a:ext cx="153619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Read the PR</a:t>
            </a:r>
          </a:p>
        </p:txBody>
      </p:sp>
      <p:sp>
        <p:nvSpPr>
          <p:cNvPr id="589" name="Text 7"/>
          <p:cNvSpPr txBox="1"/>
          <p:nvPr/>
        </p:nvSpPr>
        <p:spPr>
          <a:xfrm>
            <a:off x="621791" y="2468879"/>
            <a:ext cx="1572769" cy="66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Pull the diff, the description, the linked ticket. Understand what's actually being changed and why.</a:t>
            </a:r>
          </a:p>
        </p:txBody>
      </p:sp>
      <p:sp>
        <p:nvSpPr>
          <p:cNvPr id="590" name="Text 8"/>
          <p:cNvSpPr txBox="1"/>
          <p:nvPr/>
        </p:nvSpPr>
        <p:spPr>
          <a:xfrm>
            <a:off x="2377439" y="2623820"/>
            <a:ext cx="25603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591" name="Shape 9"/>
          <p:cNvSpPr/>
          <p:nvPr/>
        </p:nvSpPr>
        <p:spPr>
          <a:xfrm>
            <a:off x="2624327" y="1508760"/>
            <a:ext cx="1901952" cy="25146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2" name="Shape 10"/>
          <p:cNvSpPr/>
          <p:nvPr/>
        </p:nvSpPr>
        <p:spPr>
          <a:xfrm>
            <a:off x="2624327" y="1508760"/>
            <a:ext cx="1901952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3" name="Text 11"/>
          <p:cNvSpPr txBox="1"/>
          <p:nvPr/>
        </p:nvSpPr>
        <p:spPr>
          <a:xfrm>
            <a:off x="3749040" y="1595627"/>
            <a:ext cx="62179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3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594" name="Text 12"/>
          <p:cNvSpPr txBox="1"/>
          <p:nvPr/>
        </p:nvSpPr>
        <p:spPr>
          <a:xfrm>
            <a:off x="2788920" y="2176017"/>
            <a:ext cx="153619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Grill you</a:t>
            </a:r>
          </a:p>
        </p:txBody>
      </p:sp>
      <p:sp>
        <p:nvSpPr>
          <p:cNvPr id="595" name="Text 13"/>
          <p:cNvSpPr txBox="1"/>
          <p:nvPr/>
        </p:nvSpPr>
        <p:spPr>
          <a:xfrm>
            <a:off x="2788920" y="2468879"/>
            <a:ext cx="1572769" cy="66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The grilling pattern, reused: what's risky here, what's out of scope, which standards apply to this change?</a:t>
            </a:r>
          </a:p>
        </p:txBody>
      </p:sp>
      <p:sp>
        <p:nvSpPr>
          <p:cNvPr id="596" name="Text 14"/>
          <p:cNvSpPr txBox="1"/>
          <p:nvPr/>
        </p:nvSpPr>
        <p:spPr>
          <a:xfrm>
            <a:off x="4544567" y="2623820"/>
            <a:ext cx="25603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597" name="Shape 15"/>
          <p:cNvSpPr/>
          <p:nvPr/>
        </p:nvSpPr>
        <p:spPr>
          <a:xfrm>
            <a:off x="4791455" y="1508760"/>
            <a:ext cx="1901952" cy="25146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8" name="Shape 16"/>
          <p:cNvSpPr/>
          <p:nvPr/>
        </p:nvSpPr>
        <p:spPr>
          <a:xfrm>
            <a:off x="4791455" y="1508760"/>
            <a:ext cx="1901952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99" name="Text 17"/>
          <p:cNvSpPr txBox="1"/>
          <p:nvPr/>
        </p:nvSpPr>
        <p:spPr>
          <a:xfrm>
            <a:off x="5916167" y="1595627"/>
            <a:ext cx="62179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3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00" name="Text 18"/>
          <p:cNvSpPr txBox="1"/>
          <p:nvPr/>
        </p:nvSpPr>
        <p:spPr>
          <a:xfrm>
            <a:off x="4956047" y="2176017"/>
            <a:ext cx="153619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Write the handoff</a:t>
            </a:r>
          </a:p>
        </p:txBody>
      </p:sp>
      <p:sp>
        <p:nvSpPr>
          <p:cNvPr id="601" name="Text 19"/>
          <p:cNvSpPr txBox="1"/>
          <p:nvPr/>
        </p:nvSpPr>
        <p:spPr>
          <a:xfrm>
            <a:off x="4956047" y="2468879"/>
            <a:ext cx="1572769" cy="6635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Findings and required changes distilled into a handoff document — the reusable interface between agents.</a:t>
            </a:r>
          </a:p>
        </p:txBody>
      </p:sp>
      <p:sp>
        <p:nvSpPr>
          <p:cNvPr id="602" name="Text 20"/>
          <p:cNvSpPr txBox="1"/>
          <p:nvPr/>
        </p:nvSpPr>
        <p:spPr>
          <a:xfrm>
            <a:off x="6711695" y="2623820"/>
            <a:ext cx="25603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603" name="Shape 21"/>
          <p:cNvSpPr/>
          <p:nvPr/>
        </p:nvSpPr>
        <p:spPr>
          <a:xfrm>
            <a:off x="6958583" y="1508760"/>
            <a:ext cx="1901952" cy="25146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04" name="Shape 22"/>
          <p:cNvSpPr/>
          <p:nvPr/>
        </p:nvSpPr>
        <p:spPr>
          <a:xfrm>
            <a:off x="6958583" y="1508760"/>
            <a:ext cx="1901952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05" name="Text 23"/>
          <p:cNvSpPr txBox="1"/>
          <p:nvPr/>
        </p:nvSpPr>
        <p:spPr>
          <a:xfrm>
            <a:off x="8083295" y="1595627"/>
            <a:ext cx="62179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3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06" name="Text 24"/>
          <p:cNvSpPr txBox="1"/>
          <p:nvPr/>
        </p:nvSpPr>
        <p:spPr>
          <a:xfrm>
            <a:off x="7123176" y="2176017"/>
            <a:ext cx="153619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Implement fresh</a:t>
            </a:r>
          </a:p>
        </p:txBody>
      </p:sp>
      <p:sp>
        <p:nvSpPr>
          <p:cNvPr id="607" name="Text 25"/>
          <p:cNvSpPr txBox="1"/>
          <p:nvPr/>
        </p:nvSpPr>
        <p:spPr>
          <a:xfrm>
            <a:off x="7123176" y="2468879"/>
            <a:ext cx="1572769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A clean session (cheap model!) picks up the doc and makes the changes. Review judgment and typing decoupled.</a:t>
            </a:r>
          </a:p>
        </p:txBody>
      </p:sp>
      <p:sp>
        <p:nvSpPr>
          <p:cNvPr id="608" name="Text 26"/>
          <p:cNvSpPr txBox="1"/>
          <p:nvPr/>
        </p:nvSpPr>
        <p:spPr>
          <a:xfrm>
            <a:off x="475487" y="4352289"/>
            <a:ext cx="82296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Each part is a skill you already have. Composition is where a personal toolkit becomes a team workflow.</a:t>
            </a:r>
          </a:p>
        </p:txBody>
      </p:sp>
      <p:pic>
        <p:nvPicPr>
          <p:cNvPr id="609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10" name="Text 27"/>
          <p:cNvSpPr txBox="1"/>
          <p:nvPr/>
        </p:nvSpPr>
        <p:spPr>
          <a:xfrm>
            <a:off x="304495" y="4846828"/>
            <a:ext cx="16008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SKILLS — AUTOMATE YOURSELF</a:t>
            </a:r>
          </a:p>
        </p:txBody>
      </p:sp>
      <p:sp>
        <p:nvSpPr>
          <p:cNvPr id="611" name="Text 28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32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F0424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04 · THE REFLEX</a:t>
            </a:r>
          </a:p>
        </p:txBody>
      </p:sp>
      <p:sp>
        <p:nvSpPr>
          <p:cNvPr id="616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Did it twice? That's a skill.</a:t>
            </a:r>
          </a:p>
        </p:txBody>
      </p:sp>
      <p:sp>
        <p:nvSpPr>
          <p:cNvPr id="617" name="Text 2"/>
          <p:cNvSpPr txBox="1"/>
          <p:nvPr/>
        </p:nvSpPr>
        <p:spPr>
          <a:xfrm>
            <a:off x="475487" y="1450339"/>
            <a:ext cx="8229601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Repetition is the trigger.</a:t>
            </a:r>
          </a:p>
        </p:txBody>
      </p:sp>
      <p:sp>
        <p:nvSpPr>
          <p:cNvPr id="618" name="Text 3"/>
          <p:cNvSpPr txBox="1"/>
          <p:nvPr/>
        </p:nvSpPr>
        <p:spPr>
          <a:xfrm>
            <a:off x="475487" y="2365707"/>
            <a:ext cx="8229601" cy="206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You pasted the same instructions again</a:t>
            </a:r>
            <a:r>
              <a:rPr b="1">
                <a:solidFill>
                  <a:srgbClr val="F04242"/>
                </a:solidFill>
                <a:latin typeface="Aptos ExtraBold"/>
                <a:ea typeface="Aptos ExtraBold"/>
                <a:cs typeface="Aptos ExtraBold"/>
                <a:sym typeface="Aptos ExtraBold"/>
              </a:rPr>
              <a:t>   → skill</a:t>
            </a:r>
          </a:p>
        </p:txBody>
      </p:sp>
      <p:sp>
        <p:nvSpPr>
          <p:cNvPr id="619" name="Text 4"/>
          <p:cNvSpPr txBox="1"/>
          <p:nvPr/>
        </p:nvSpPr>
        <p:spPr>
          <a:xfrm>
            <a:off x="475487" y="2868627"/>
            <a:ext cx="8229601" cy="206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You explained the same process again</a:t>
            </a:r>
            <a:r>
              <a:rPr b="1">
                <a:solidFill>
                  <a:srgbClr val="F04242"/>
                </a:solidFill>
                <a:latin typeface="Aptos ExtraBold"/>
                <a:ea typeface="Aptos ExtraBold"/>
                <a:cs typeface="Aptos ExtraBold"/>
                <a:sym typeface="Aptos ExtraBold"/>
              </a:rPr>
              <a:t>   → skill</a:t>
            </a:r>
          </a:p>
        </p:txBody>
      </p:sp>
      <p:sp>
        <p:nvSpPr>
          <p:cNvPr id="620" name="Text 5"/>
          <p:cNvSpPr txBox="1"/>
          <p:nvPr/>
        </p:nvSpPr>
        <p:spPr>
          <a:xfrm>
            <a:off x="475487" y="3371548"/>
            <a:ext cx="8229601" cy="206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You fixed the same kind of mistake again</a:t>
            </a:r>
            <a:r>
              <a:rPr b="1">
                <a:solidFill>
                  <a:srgbClr val="F04242"/>
                </a:solidFill>
                <a:latin typeface="Aptos ExtraBold"/>
                <a:ea typeface="Aptos ExtraBold"/>
                <a:cs typeface="Aptos ExtraBold"/>
                <a:sym typeface="Aptos ExtraBold"/>
              </a:rPr>
              <a:t>   → skill (or a rule)</a:t>
            </a:r>
          </a:p>
        </p:txBody>
      </p:sp>
      <p:sp>
        <p:nvSpPr>
          <p:cNvPr id="621" name="Text 6"/>
          <p:cNvSpPr txBox="1"/>
          <p:nvPr/>
        </p:nvSpPr>
        <p:spPr>
          <a:xfrm>
            <a:off x="475487" y="3874467"/>
            <a:ext cx="8229601" cy="2063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You ran the same 5-step dance again</a:t>
            </a:r>
            <a:r>
              <a:rPr b="1">
                <a:solidFill>
                  <a:srgbClr val="F04242"/>
                </a:solidFill>
                <a:latin typeface="Aptos ExtraBold"/>
                <a:ea typeface="Aptos ExtraBold"/>
                <a:cs typeface="Aptos ExtraBold"/>
                <a:sym typeface="Aptos ExtraBold"/>
              </a:rPr>
              <a:t>   → skill</a:t>
            </a:r>
          </a:p>
        </p:txBody>
      </p:sp>
      <p:pic>
        <p:nvPicPr>
          <p:cNvPr id="622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23" name="Text 7"/>
          <p:cNvSpPr txBox="1"/>
          <p:nvPr/>
        </p:nvSpPr>
        <p:spPr>
          <a:xfrm>
            <a:off x="304495" y="4846828"/>
            <a:ext cx="16008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SKILLS — AUTOMATE YOURSELF</a:t>
            </a:r>
          </a:p>
        </p:txBody>
      </p:sp>
      <p:sp>
        <p:nvSpPr>
          <p:cNvPr id="624" name="Text 8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33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SKILLS — AUTOMATE YOURSELF · HANDS-ON</a:t>
            </a:r>
          </a:p>
        </p:txBody>
      </p:sp>
      <p:sp>
        <p:nvSpPr>
          <p:cNvPr id="629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Lab 3 — Write your own skill</a:t>
            </a:r>
          </a:p>
        </p:txBody>
      </p:sp>
      <p:sp>
        <p:nvSpPr>
          <p:cNvPr id="630" name="Text 2"/>
          <p:cNvSpPr txBox="1"/>
          <p:nvPr/>
        </p:nvSpPr>
        <p:spPr>
          <a:xfrm>
            <a:off x="475487" y="1057655"/>
            <a:ext cx="32004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60 MIN · SOLO, THEN SHARE-OUT</a:t>
            </a:r>
          </a:p>
        </p:txBody>
      </p:sp>
      <p:sp>
        <p:nvSpPr>
          <p:cNvPr id="631" name="Text 3"/>
          <p:cNvSpPr txBox="1"/>
          <p:nvPr/>
        </p:nvSpPr>
        <p:spPr>
          <a:xfrm>
            <a:off x="475487" y="1417319"/>
            <a:ext cx="5120642" cy="1365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1.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Pick a recurring pain point from YOUR daily work — code review conventions, ticket writing, release notes, a Symeta-specific process</a:t>
            </a:r>
          </a:p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2.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Use Pocock's </a:t>
            </a:r>
            <a:r>
              <a:rPr>
                <a:latin typeface="Courier New"/>
                <a:ea typeface="Courier New"/>
                <a:cs typeface="Courier New"/>
                <a:sym typeface="Courier New"/>
              </a:rPr>
              <a:t>/write-a-skill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 to build it: structure, progressive disclosure, a description written for the model</a:t>
            </a:r>
          </a:p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3.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Stuck for ideas? Build a deslop skill: strip AI-slop from generated code — filler comments, over-abstraction, hedging prose</a:t>
            </a:r>
          </a:p>
          <a:p>
            <a:pPr>
              <a:lnSpc>
                <a:spcPct val="120000"/>
              </a:lnSpc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4. 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Test it on real material. Iterate once. Volunteers demo at the end</a:t>
            </a:r>
          </a:p>
        </p:txBody>
      </p:sp>
      <p:sp>
        <p:nvSpPr>
          <p:cNvPr id="632" name="Shape 4"/>
          <p:cNvSpPr/>
          <p:nvPr/>
        </p:nvSpPr>
        <p:spPr>
          <a:xfrm>
            <a:off x="5989320" y="1417319"/>
            <a:ext cx="2697481" cy="283464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3" name="Shape 5"/>
          <p:cNvSpPr/>
          <p:nvPr/>
        </p:nvSpPr>
        <p:spPr>
          <a:xfrm>
            <a:off x="5989320" y="1417319"/>
            <a:ext cx="2697481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34" name="Text 6"/>
          <p:cNvSpPr txBox="1"/>
          <p:nvPr/>
        </p:nvSpPr>
        <p:spPr>
          <a:xfrm>
            <a:off x="5989320" y="2865120"/>
            <a:ext cx="2496313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8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635" name="Text 7"/>
          <p:cNvSpPr txBox="1"/>
          <p:nvPr/>
        </p:nvSpPr>
        <p:spPr>
          <a:xfrm>
            <a:off x="6190488" y="1655572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8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DONE WHEN</a:t>
            </a:r>
          </a:p>
        </p:txBody>
      </p:sp>
      <p:sp>
        <p:nvSpPr>
          <p:cNvPr id="636" name="Text 8"/>
          <p:cNvSpPr txBox="1"/>
          <p:nvPr/>
        </p:nvSpPr>
        <p:spPr>
          <a:xfrm>
            <a:off x="6190488" y="1920239"/>
            <a:ext cx="2286001" cy="878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0000"/>
              </a:lnSpc>
              <a:spcBef>
                <a:spcPts val="7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Skill triggers correctly</a:t>
            </a:r>
          </a:p>
          <a:p>
            <a:pPr marL="127000" indent="-127000">
              <a:lnSpc>
                <a:spcPct val="120000"/>
              </a:lnSpc>
              <a:spcBef>
                <a:spcPts val="7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It encodes YOUR convention, not a generic one</a:t>
            </a:r>
          </a:p>
          <a:p>
            <a:pPr marL="127000" indent="-127000">
              <a:lnSpc>
                <a:spcPct val="120000"/>
              </a:lnSpc>
              <a:spcBef>
                <a:spcPts val="700"/>
              </a:spcBef>
              <a:buSzPct val="100000"/>
              <a:buChar char="•"/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You'd actually use it next week</a:t>
            </a:r>
          </a:p>
        </p:txBody>
      </p:sp>
      <p:pic>
        <p:nvPicPr>
          <p:cNvPr id="637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38" name="Text 9"/>
          <p:cNvSpPr txBox="1"/>
          <p:nvPr/>
        </p:nvSpPr>
        <p:spPr>
          <a:xfrm>
            <a:off x="304495" y="4846828"/>
            <a:ext cx="160080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SKILLS — AUTOMATE YOURSELF</a:t>
            </a:r>
          </a:p>
        </p:txBody>
      </p:sp>
      <p:sp>
        <p:nvSpPr>
          <p:cNvPr id="639" name="Text 10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34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Text 0"/>
          <p:cNvSpPr txBox="1"/>
          <p:nvPr/>
        </p:nvSpPr>
        <p:spPr>
          <a:xfrm>
            <a:off x="475487" y="1521205"/>
            <a:ext cx="7315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F0424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05 · 15:00</a:t>
            </a:r>
          </a:p>
        </p:txBody>
      </p:sp>
      <p:sp>
        <p:nvSpPr>
          <p:cNvPr id="644" name="Text 1"/>
          <p:cNvSpPr txBox="1"/>
          <p:nvPr/>
        </p:nvSpPr>
        <p:spPr>
          <a:xfrm>
            <a:off x="475488" y="1974849"/>
            <a:ext cx="81381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From writer to reviewer</a:t>
            </a:r>
          </a:p>
        </p:txBody>
      </p:sp>
      <p:sp>
        <p:nvSpPr>
          <p:cNvPr id="645" name="Text 2"/>
          <p:cNvSpPr txBox="1"/>
          <p:nvPr/>
        </p:nvSpPr>
        <p:spPr>
          <a:xfrm>
            <a:off x="475487" y="2837180"/>
            <a:ext cx="749808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FBFB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It’s not ‘vibe’ coding if you utilize the harness with a plan in the front and a review in the back.</a:t>
            </a:r>
          </a:p>
        </p:txBody>
      </p:sp>
      <p:pic>
        <p:nvPicPr>
          <p:cNvPr id="646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47" name="Text 3"/>
          <p:cNvSpPr txBox="1"/>
          <p:nvPr/>
        </p:nvSpPr>
        <p:spPr>
          <a:xfrm>
            <a:off x="304495" y="4846828"/>
            <a:ext cx="8358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05 · 15:00</a:t>
            </a:r>
          </a:p>
        </p:txBody>
      </p:sp>
      <p:sp>
        <p:nvSpPr>
          <p:cNvPr id="648" name="Text 4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38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Label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05 · THE ROLE SHIFT</a:t>
            </a:r>
          </a:p>
        </p:txBody>
      </p:sp>
      <p:sp>
        <p:nvSpPr>
          <p:cNvPr id="653" name="Title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You are now a reviewer</a:t>
            </a:r>
          </a:p>
        </p:txBody>
      </p:sp>
      <p:sp>
        <p:nvSpPr>
          <p:cNvPr id="654" name="Card 1"/>
          <p:cNvSpPr/>
          <p:nvPr/>
        </p:nvSpPr>
        <p:spPr>
          <a:xfrm>
            <a:off x="457200" y="1234439"/>
            <a:ext cx="2651761" cy="233172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55" name="Card 1 rule"/>
          <p:cNvSpPr/>
          <p:nvPr/>
        </p:nvSpPr>
        <p:spPr>
          <a:xfrm>
            <a:off x="457200" y="1234439"/>
            <a:ext cx="2651761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56" name="C1 eyebrow"/>
          <p:cNvSpPr txBox="1"/>
          <p:nvPr/>
        </p:nvSpPr>
        <p:spPr>
          <a:xfrm>
            <a:off x="658368" y="1445259"/>
            <a:ext cx="2240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8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WHAT CHANGED</a:t>
            </a:r>
          </a:p>
        </p:txBody>
      </p:sp>
      <p:sp>
        <p:nvSpPr>
          <p:cNvPr id="657" name="C1 header"/>
          <p:cNvSpPr txBox="1"/>
          <p:nvPr/>
        </p:nvSpPr>
        <p:spPr>
          <a:xfrm>
            <a:off x="658368" y="1660000"/>
            <a:ext cx="22402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You read more than you write</a:t>
            </a:r>
          </a:p>
        </p:txBody>
      </p:sp>
      <p:sp>
        <p:nvSpPr>
          <p:cNvPr id="658" name="C1 body"/>
          <p:cNvSpPr txBox="1"/>
          <p:nvPr/>
        </p:nvSpPr>
        <p:spPr>
          <a:xfrm>
            <a:off x="658368" y="2219999"/>
            <a:ext cx="224028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The agent produces a day of diffs in minutes — reading code is now the job, writing it the exception. Your throughput is judgment speed, not typing speed.</a:t>
            </a:r>
          </a:p>
        </p:txBody>
      </p:sp>
      <p:sp>
        <p:nvSpPr>
          <p:cNvPr id="659" name="Card 2"/>
          <p:cNvSpPr/>
          <p:nvPr/>
        </p:nvSpPr>
        <p:spPr>
          <a:xfrm>
            <a:off x="3246120" y="1234439"/>
            <a:ext cx="2651761" cy="233172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0" name="C2 eyebrow"/>
          <p:cNvSpPr txBox="1"/>
          <p:nvPr/>
        </p:nvSpPr>
        <p:spPr>
          <a:xfrm>
            <a:off x="3447288" y="1445259"/>
            <a:ext cx="224028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WHAT DIDN'T</a:t>
            </a:r>
          </a:p>
        </p:txBody>
      </p:sp>
      <p:sp>
        <p:nvSpPr>
          <p:cNvPr id="661" name="C2 header"/>
          <p:cNvSpPr txBox="1"/>
          <p:nvPr/>
        </p:nvSpPr>
        <p:spPr>
          <a:xfrm>
            <a:off x="3447288" y="1660000"/>
            <a:ext cx="22402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You own what you merge</a:t>
            </a:r>
          </a:p>
        </p:txBody>
      </p:sp>
      <p:sp>
        <p:nvSpPr>
          <p:cNvPr id="662" name="C2 body"/>
          <p:cNvSpPr txBox="1"/>
          <p:nvPr/>
        </p:nvSpPr>
        <p:spPr>
          <a:xfrm>
            <a:off x="3447288" y="2219999"/>
            <a:ext cx="224028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"Claude wrote it" is not a code review — accountability doesn't delegate. If you can't explain the diff, you can't merge it.</a:t>
            </a:r>
          </a:p>
        </p:txBody>
      </p:sp>
      <p:sp>
        <p:nvSpPr>
          <p:cNvPr id="663" name="Card 3"/>
          <p:cNvSpPr/>
          <p:nvPr/>
        </p:nvSpPr>
        <p:spPr>
          <a:xfrm>
            <a:off x="6035040" y="1234439"/>
            <a:ext cx="2651761" cy="233172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64" name="C3 eyebrow"/>
          <p:cNvSpPr txBox="1"/>
          <p:nvPr/>
        </p:nvSpPr>
        <p:spPr>
          <a:xfrm>
            <a:off x="6236208" y="1445259"/>
            <a:ext cx="22402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800">
                <a:solidFill>
                  <a:srgbClr val="595959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THE TRAP</a:t>
            </a:r>
          </a:p>
        </p:txBody>
      </p:sp>
      <p:sp>
        <p:nvSpPr>
          <p:cNvPr id="665" name="C3 header"/>
          <p:cNvSpPr txBox="1"/>
          <p:nvPr/>
        </p:nvSpPr>
        <p:spPr>
          <a:xfrm>
            <a:off x="6236208" y="1660000"/>
            <a:ext cx="224028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Plausible ≠ correct</a:t>
            </a:r>
          </a:p>
        </p:txBody>
      </p:sp>
      <p:sp>
        <p:nvSpPr>
          <p:cNvPr id="666" name="C3 body"/>
          <p:cNvSpPr txBox="1"/>
          <p:nvPr/>
        </p:nvSpPr>
        <p:spPr>
          <a:xfrm>
            <a:off x="6236208" y="2219999"/>
            <a:ext cx="2240281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AI code is optimized to look right — which defeats skimming. Human bugs cluster in hard places; AI bugs hide in confident, clean-looking code.</a:t>
            </a:r>
          </a:p>
        </p:txBody>
      </p:sp>
      <p:sp>
        <p:nvSpPr>
          <p:cNvPr id="667" name="Callout text"/>
          <p:cNvSpPr txBox="1"/>
          <p:nvPr/>
        </p:nvSpPr>
        <p:spPr>
          <a:xfrm>
            <a:off x="658367" y="4048759"/>
            <a:ext cx="78638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Review is now the bottleneck.  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The last skill of today: reviewing fast without reviewing carelessly.</a:t>
            </a:r>
          </a:p>
        </p:txBody>
      </p:sp>
      <p:sp>
        <p:nvSpPr>
          <p:cNvPr id="668" name="Callout keyline"/>
          <p:cNvSpPr/>
          <p:nvPr/>
        </p:nvSpPr>
        <p:spPr>
          <a:xfrm>
            <a:off x="457200" y="3886200"/>
            <a:ext cx="25604" cy="502920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69" name="Image 0" descr="Image 0"/>
          <p:cNvPicPr>
            <a:picLocks noChangeAspect="1"/>
          </p:cNvPicPr>
          <p:nvPr/>
        </p:nvPicPr>
        <p:blipFill>
          <a:blip r:embed="rId2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70" name="Footer L"/>
          <p:cNvSpPr txBox="1"/>
          <p:nvPr/>
        </p:nvSpPr>
        <p:spPr>
          <a:xfrm>
            <a:off x="304495" y="4846828"/>
            <a:ext cx="143968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FROM WRITER TO REVIEWER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Label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05 · KNOW THE SMELLS</a:t>
            </a:r>
          </a:p>
        </p:txBody>
      </p:sp>
      <p:sp>
        <p:nvSpPr>
          <p:cNvPr id="673" name="Title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The slop checklist — what AI code smells like</a:t>
            </a:r>
          </a:p>
        </p:txBody>
      </p:sp>
      <p:sp>
        <p:nvSpPr>
          <p:cNvPr id="674" name="Card 1"/>
          <p:cNvSpPr/>
          <p:nvPr/>
        </p:nvSpPr>
        <p:spPr>
          <a:xfrm>
            <a:off x="457200" y="1234439"/>
            <a:ext cx="4041648" cy="7700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5" name="H1"/>
          <p:cNvSpPr txBox="1"/>
          <p:nvPr/>
        </p:nvSpPr>
        <p:spPr>
          <a:xfrm>
            <a:off x="637199" y="1341889"/>
            <a:ext cx="368165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Vacuous tests</a:t>
            </a:r>
          </a:p>
        </p:txBody>
      </p:sp>
      <p:sp>
        <p:nvSpPr>
          <p:cNvPr id="676" name="B1"/>
          <p:cNvSpPr txBox="1"/>
          <p:nvPr/>
        </p:nvSpPr>
        <p:spPr>
          <a:xfrm>
            <a:off x="637199" y="1554440"/>
            <a:ext cx="3681650" cy="300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Green but asserts nothing: Assert.NotNull on a non-nullable, mocks verifying mocks, no failing case anywhere.</a:t>
            </a:r>
          </a:p>
        </p:txBody>
      </p:sp>
      <p:sp>
        <p:nvSpPr>
          <p:cNvPr id="677" name="Card 2"/>
          <p:cNvSpPr/>
          <p:nvPr/>
        </p:nvSpPr>
        <p:spPr>
          <a:xfrm>
            <a:off x="4645152" y="1234439"/>
            <a:ext cx="4041648" cy="7700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8" name="H2"/>
          <p:cNvSpPr txBox="1"/>
          <p:nvPr/>
        </p:nvSpPr>
        <p:spPr>
          <a:xfrm>
            <a:off x="4825151" y="1341889"/>
            <a:ext cx="368165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Speculative abstraction</a:t>
            </a:r>
          </a:p>
        </p:txBody>
      </p:sp>
      <p:sp>
        <p:nvSpPr>
          <p:cNvPr id="679" name="B2"/>
          <p:cNvSpPr txBox="1"/>
          <p:nvPr/>
        </p:nvSpPr>
        <p:spPr>
          <a:xfrm>
            <a:off x="4825151" y="1554440"/>
            <a:ext cx="3681650" cy="3003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An interface with one implementation, a factory for a constructor — built for a future nobody asked for.</a:t>
            </a:r>
          </a:p>
        </p:txBody>
      </p:sp>
      <p:sp>
        <p:nvSpPr>
          <p:cNvPr id="680" name="Card 3"/>
          <p:cNvSpPr/>
          <p:nvPr/>
        </p:nvSpPr>
        <p:spPr>
          <a:xfrm>
            <a:off x="457200" y="2064440"/>
            <a:ext cx="4041648" cy="7700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1" name="H3"/>
          <p:cNvSpPr txBox="1"/>
          <p:nvPr/>
        </p:nvSpPr>
        <p:spPr>
          <a:xfrm>
            <a:off x="637199" y="2171889"/>
            <a:ext cx="368165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Swallowed failures</a:t>
            </a:r>
          </a:p>
        </p:txBody>
      </p:sp>
      <p:sp>
        <p:nvSpPr>
          <p:cNvPr id="682" name="B3"/>
          <p:cNvSpPr txBox="1"/>
          <p:nvPr/>
        </p:nvSpPr>
        <p:spPr>
          <a:xfrm>
            <a:off x="637199" y="2384439"/>
            <a:ext cx="3681650" cy="3095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b="1" sz="900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catch (Exception) { log }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 — and execution just continues. Errors handled by hiding them.</a:t>
            </a:r>
          </a:p>
        </p:txBody>
      </p:sp>
      <p:sp>
        <p:nvSpPr>
          <p:cNvPr id="683" name="Card 4"/>
          <p:cNvSpPr/>
          <p:nvPr/>
        </p:nvSpPr>
        <p:spPr>
          <a:xfrm>
            <a:off x="4645152" y="2064440"/>
            <a:ext cx="4041648" cy="7700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4" name="H4"/>
          <p:cNvSpPr txBox="1"/>
          <p:nvPr/>
        </p:nvSpPr>
        <p:spPr>
          <a:xfrm>
            <a:off x="4825151" y="2171889"/>
            <a:ext cx="368165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Silent behavior change</a:t>
            </a:r>
          </a:p>
        </p:txBody>
      </p:sp>
      <p:sp>
        <p:nvSpPr>
          <p:cNvPr id="685" name="B4"/>
          <p:cNvSpPr txBox="1"/>
          <p:nvPr/>
        </p:nvSpPr>
        <p:spPr>
          <a:xfrm>
            <a:off x="4825151" y="2384439"/>
            <a:ext cx="3681650" cy="300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A "refactor" that also changes rounding, casing or defaults. Diff the behavior, not the style.</a:t>
            </a:r>
          </a:p>
        </p:txBody>
      </p:sp>
      <p:sp>
        <p:nvSpPr>
          <p:cNvPr id="686" name="Card 5"/>
          <p:cNvSpPr/>
          <p:nvPr/>
        </p:nvSpPr>
        <p:spPr>
          <a:xfrm>
            <a:off x="457200" y="2894439"/>
            <a:ext cx="4041648" cy="7700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7" name="H5"/>
          <p:cNvSpPr txBox="1"/>
          <p:nvPr/>
        </p:nvSpPr>
        <p:spPr>
          <a:xfrm>
            <a:off x="637199" y="3001889"/>
            <a:ext cx="368165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Reinvented framework</a:t>
            </a:r>
          </a:p>
        </p:txBody>
      </p:sp>
      <p:sp>
        <p:nvSpPr>
          <p:cNvPr id="688" name="B5"/>
          <p:cNvSpPr txBox="1"/>
          <p:nvPr/>
        </p:nvSpPr>
        <p:spPr>
          <a:xfrm>
            <a:off x="637199" y="3214440"/>
            <a:ext cx="3681650" cy="3003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Hand-rolled JSON parsing next to System.Text.Json; a bespoke retry loop instead of Polly.</a:t>
            </a:r>
          </a:p>
        </p:txBody>
      </p:sp>
      <p:sp>
        <p:nvSpPr>
          <p:cNvPr id="689" name="Card 6"/>
          <p:cNvSpPr/>
          <p:nvPr/>
        </p:nvSpPr>
        <p:spPr>
          <a:xfrm>
            <a:off x="4645152" y="2894439"/>
            <a:ext cx="4041648" cy="7700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90" name="H6"/>
          <p:cNvSpPr txBox="1"/>
          <p:nvPr/>
        </p:nvSpPr>
        <p:spPr>
          <a:xfrm>
            <a:off x="4825151" y="3001889"/>
            <a:ext cx="3681650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Comment noise</a:t>
            </a:r>
          </a:p>
        </p:txBody>
      </p:sp>
      <p:sp>
        <p:nvSpPr>
          <p:cNvPr id="691" name="B6"/>
          <p:cNvSpPr txBox="1"/>
          <p:nvPr/>
        </p:nvSpPr>
        <p:spPr>
          <a:xfrm>
            <a:off x="4825151" y="3214440"/>
            <a:ext cx="3681650" cy="309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5000"/>
              </a:lnSpc>
              <a:defRPr b="1" sz="900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// increment the counter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 — narrates what, not why. Delete on sight.</a:t>
            </a:r>
          </a:p>
        </p:txBody>
      </p:sp>
      <p:sp>
        <p:nvSpPr>
          <p:cNvPr id="692" name="Callout text"/>
          <p:cNvSpPr txBox="1"/>
          <p:nvPr/>
        </p:nvSpPr>
        <p:spPr>
          <a:xfrm>
            <a:off x="658367" y="4043401"/>
            <a:ext cx="7863842" cy="188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Encode this list as your team's </a:t>
            </a:r>
            <a:r>
              <a:rPr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/review</a:t>
            </a:r>
            <a:r>
              <a:t> skill.  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The agent runs it on its own output before you ever look.</a:t>
            </a:r>
          </a:p>
        </p:txBody>
      </p:sp>
      <p:sp>
        <p:nvSpPr>
          <p:cNvPr id="693" name="Callout keyline"/>
          <p:cNvSpPr/>
          <p:nvPr/>
        </p:nvSpPr>
        <p:spPr>
          <a:xfrm>
            <a:off x="457200" y="3886200"/>
            <a:ext cx="25604" cy="502920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694" name="Image 0" descr="Image 0"/>
          <p:cNvPicPr>
            <a:picLocks noChangeAspect="1"/>
          </p:cNvPicPr>
          <p:nvPr/>
        </p:nvPicPr>
        <p:blipFill>
          <a:blip r:embed="rId2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695" name="Footer L"/>
          <p:cNvSpPr txBox="1"/>
          <p:nvPr/>
        </p:nvSpPr>
        <p:spPr>
          <a:xfrm>
            <a:off x="304495" y="4846828"/>
            <a:ext cx="143968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FROM WRITER TO REVIEWER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Label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05 · THE WORKFLOW</a:t>
            </a:r>
          </a:p>
        </p:txBody>
      </p:sp>
      <p:sp>
        <p:nvSpPr>
          <p:cNvPr id="698" name="Title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Reviewing at generation speed</a:t>
            </a:r>
          </a:p>
        </p:txBody>
      </p:sp>
      <p:sp>
        <p:nvSpPr>
          <p:cNvPr id="699" name="Card 1"/>
          <p:cNvSpPr/>
          <p:nvPr/>
        </p:nvSpPr>
        <p:spPr>
          <a:xfrm>
            <a:off x="457200" y="1234439"/>
            <a:ext cx="2651761" cy="233172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0" name="Badge 1"/>
          <p:cNvSpPr/>
          <p:nvPr/>
        </p:nvSpPr>
        <p:spPr>
          <a:xfrm>
            <a:off x="658368" y="1435608"/>
            <a:ext cx="310896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1" name="Badge 1 num"/>
          <p:cNvSpPr txBox="1"/>
          <p:nvPr/>
        </p:nvSpPr>
        <p:spPr>
          <a:xfrm>
            <a:off x="658368" y="1499361"/>
            <a:ext cx="31089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02" name="C1 header"/>
          <p:cNvSpPr txBox="1"/>
          <p:nvPr/>
        </p:nvSpPr>
        <p:spPr>
          <a:xfrm>
            <a:off x="658368" y="1910080"/>
            <a:ext cx="22402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Agent pre-reviews</a:t>
            </a:r>
          </a:p>
        </p:txBody>
      </p:sp>
      <p:sp>
        <p:nvSpPr>
          <p:cNvPr id="703" name="C1 body"/>
          <p:cNvSpPr txBox="1"/>
          <p:nvPr/>
        </p:nvSpPr>
        <p:spPr>
          <a:xfrm>
            <a:off x="658368" y="2176272"/>
            <a:ext cx="2240280" cy="9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Your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/review</a:t>
            </a:r>
            <a:r>
              <a:t> skill — slop checklist plus team conventions — runs on the diff before human eyes. A fresh session reviews better than the one that wrote it.</a:t>
            </a:r>
          </a:p>
        </p:txBody>
      </p:sp>
      <p:sp>
        <p:nvSpPr>
          <p:cNvPr id="704" name="Card 2"/>
          <p:cNvSpPr/>
          <p:nvPr/>
        </p:nvSpPr>
        <p:spPr>
          <a:xfrm>
            <a:off x="3246120" y="1234439"/>
            <a:ext cx="2651761" cy="233172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05" name="Badge 2"/>
          <p:cNvSpPr/>
          <p:nvPr/>
        </p:nvSpPr>
        <p:spPr>
          <a:xfrm>
            <a:off x="3447288" y="1435608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06" name="Badge 2 num"/>
          <p:cNvSpPr txBox="1"/>
          <p:nvPr/>
        </p:nvSpPr>
        <p:spPr>
          <a:xfrm>
            <a:off x="3447288" y="1499361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07" name="C2 header"/>
          <p:cNvSpPr txBox="1"/>
          <p:nvPr/>
        </p:nvSpPr>
        <p:spPr>
          <a:xfrm>
            <a:off x="3447288" y="1910080"/>
            <a:ext cx="22402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Tests first, run them</a:t>
            </a:r>
          </a:p>
        </p:txBody>
      </p:sp>
      <p:sp>
        <p:nvSpPr>
          <p:cNvPr id="708" name="C2 body"/>
          <p:cNvSpPr txBox="1"/>
          <p:nvPr/>
        </p:nvSpPr>
        <p:spPr>
          <a:xfrm>
            <a:off x="3447288" y="2176272"/>
            <a:ext cx="2240280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Tests are the diff's claim about itself — if they're wrong, stop reading. Run them; break the code once and watch a test fail.</a:t>
            </a:r>
          </a:p>
        </p:txBody>
      </p:sp>
      <p:sp>
        <p:nvSpPr>
          <p:cNvPr id="709" name="Card 3"/>
          <p:cNvSpPr/>
          <p:nvPr/>
        </p:nvSpPr>
        <p:spPr>
          <a:xfrm>
            <a:off x="6035040" y="1234439"/>
            <a:ext cx="2651761" cy="2331722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0" name="Badge 3"/>
          <p:cNvSpPr/>
          <p:nvPr/>
        </p:nvSpPr>
        <p:spPr>
          <a:xfrm>
            <a:off x="6236208" y="1435608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1" name="Badge 3 num"/>
          <p:cNvSpPr txBox="1"/>
          <p:nvPr/>
        </p:nvSpPr>
        <p:spPr>
          <a:xfrm>
            <a:off x="6236208" y="1499361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712" name="C3 header"/>
          <p:cNvSpPr txBox="1"/>
          <p:nvPr/>
        </p:nvSpPr>
        <p:spPr>
          <a:xfrm>
            <a:off x="6236208" y="1910080"/>
            <a:ext cx="224028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Interrogate the diff</a:t>
            </a:r>
          </a:p>
        </p:txBody>
      </p:sp>
      <p:sp>
        <p:nvSpPr>
          <p:cNvPr id="713" name="C3 body"/>
          <p:cNvSpPr txBox="1"/>
          <p:nvPr/>
        </p:nvSpPr>
        <p:spPr>
          <a:xfrm>
            <a:off x="6236208" y="2176272"/>
            <a:ext cx="2240281" cy="735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10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Ask what changed in behavior vs. style; make it defend edge cases. If a fix costs more than re-prompting: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/clear</a:t>
            </a:r>
            <a:r>
              <a:t> and re-roll.</a:t>
            </a:r>
          </a:p>
        </p:txBody>
      </p:sp>
      <p:pic>
        <p:nvPicPr>
          <p:cNvPr id="714" name="Image 0" descr="Image 0"/>
          <p:cNvPicPr>
            <a:picLocks noChangeAspect="1"/>
          </p:cNvPicPr>
          <p:nvPr/>
        </p:nvPicPr>
        <p:blipFill>
          <a:blip r:embed="rId2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715" name="Footer L"/>
          <p:cNvSpPr txBox="1"/>
          <p:nvPr/>
        </p:nvSpPr>
        <p:spPr>
          <a:xfrm>
            <a:off x="304495" y="4846828"/>
            <a:ext cx="143968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FROM WRITER TO REVIEWER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Text 0"/>
          <p:cNvSpPr txBox="1"/>
          <p:nvPr/>
        </p:nvSpPr>
        <p:spPr>
          <a:xfrm>
            <a:off x="475487" y="1521205"/>
            <a:ext cx="7315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F0424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06 · 15:45</a:t>
            </a:r>
          </a:p>
        </p:txBody>
      </p:sp>
      <p:sp>
        <p:nvSpPr>
          <p:cNvPr id="718" name="Text 1"/>
          <p:cNvSpPr txBox="1"/>
          <p:nvPr/>
        </p:nvSpPr>
        <p:spPr>
          <a:xfrm>
            <a:off x="475488" y="1974849"/>
            <a:ext cx="81381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Power tools</a:t>
            </a:r>
          </a:p>
        </p:txBody>
      </p:sp>
      <p:sp>
        <p:nvSpPr>
          <p:cNvPr id="719" name="Text 2"/>
          <p:cNvSpPr txBox="1"/>
          <p:nvPr/>
        </p:nvSpPr>
        <p:spPr>
          <a:xfrm>
            <a:off x="475487" y="2748280"/>
            <a:ext cx="749808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FBFB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The big guns you won't use every day. Know they exist, reach for them when the problem fits — they multiply capability and cost.</a:t>
            </a:r>
          </a:p>
        </p:txBody>
      </p:sp>
      <p:pic>
        <p:nvPicPr>
          <p:cNvPr id="720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721" name="Text 3"/>
          <p:cNvSpPr txBox="1"/>
          <p:nvPr/>
        </p:nvSpPr>
        <p:spPr>
          <a:xfrm>
            <a:off x="304495" y="4846828"/>
            <a:ext cx="8358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06 · 15:45</a:t>
            </a:r>
          </a:p>
        </p:txBody>
      </p:sp>
      <p:sp>
        <p:nvSpPr>
          <p:cNvPr id="722" name="Text 4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38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06 · MCP</a:t>
            </a:r>
          </a:p>
        </p:txBody>
      </p:sp>
      <p:sp>
        <p:nvSpPr>
          <p:cNvPr id="727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MCP servers — give the agent more tools</a:t>
            </a:r>
          </a:p>
        </p:txBody>
      </p:sp>
      <p:sp>
        <p:nvSpPr>
          <p:cNvPr id="728" name="Text 2"/>
          <p:cNvSpPr txBox="1"/>
          <p:nvPr/>
        </p:nvSpPr>
        <p:spPr>
          <a:xfrm>
            <a:off x="475487" y="1280160"/>
            <a:ext cx="4937762" cy="1349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1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What it is: 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an open protocol that plugs external systems into the agent as tools — Jira, Azure DevOps, Confluence, databases, browsers.</a:t>
            </a:r>
          </a:p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1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Why it beats copy-paste: 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the agent queries live data itself, mid-task. 'Implement PROJ-142' — it reads the ticket, spec and comments. No ferrying.</a:t>
            </a:r>
          </a:p>
          <a:p>
            <a:pPr marL="127000" indent="-127000">
              <a:lnSpc>
                <a:spcPct val="125000"/>
              </a:lnSpc>
              <a:spcBef>
                <a:spcPts val="600"/>
              </a:spcBef>
              <a:buSzPct val="100000"/>
              <a:buChar char="•"/>
              <a:defRPr b="1" sz="1100">
                <a:solidFill>
                  <a:srgbClr val="111111"/>
                </a:solidFill>
                <a:latin typeface="Aptos"/>
                <a:ea typeface="Aptos"/>
                <a:cs typeface="Aptos"/>
                <a:sym typeface="Aptos"/>
              </a:defRPr>
            </a:pPr>
            <a:r>
              <a:t>Team angle: 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the config lives in the repo — set up once, the whole team benefits.</a:t>
            </a:r>
          </a:p>
        </p:txBody>
      </p:sp>
      <p:sp>
        <p:nvSpPr>
          <p:cNvPr id="729" name="Shape 3"/>
          <p:cNvSpPr/>
          <p:nvPr/>
        </p:nvSpPr>
        <p:spPr>
          <a:xfrm>
            <a:off x="5760720" y="1280160"/>
            <a:ext cx="2926081" cy="274320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0" name="Shape 4"/>
          <p:cNvSpPr/>
          <p:nvPr/>
        </p:nvSpPr>
        <p:spPr>
          <a:xfrm>
            <a:off x="5760720" y="1280160"/>
            <a:ext cx="2926081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1" name="Text 5"/>
          <p:cNvSpPr txBox="1"/>
          <p:nvPr/>
        </p:nvSpPr>
        <p:spPr>
          <a:xfrm>
            <a:off x="5980176" y="1509267"/>
            <a:ext cx="2286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50" sz="8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LIVE DEMO</a:t>
            </a:r>
          </a:p>
        </p:txBody>
      </p:sp>
      <p:sp>
        <p:nvSpPr>
          <p:cNvPr id="732" name="Text 6"/>
          <p:cNvSpPr txBox="1"/>
          <p:nvPr/>
        </p:nvSpPr>
        <p:spPr>
          <a:xfrm>
            <a:off x="5980176" y="1783079"/>
            <a:ext cx="2487169" cy="1077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Ticket → implementation</a:t>
            </a:r>
          </a:p>
          <a:p>
            <a:pPr>
              <a:lnSpc>
                <a:spcPct val="130000"/>
              </a:lnSpc>
              <a:defRPr b="1" sz="13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rPr b="0" sz="1100">
                <a:latin typeface="Aptos Light"/>
                <a:ea typeface="Aptos Light"/>
                <a:cs typeface="Aptos Light"/>
                <a:sym typeface="Aptos Light"/>
              </a:rPr>
              <a:t>Agent reads the work item from your tracker, plans against the codebase, and links the PR back — without you pasting a word.</a:t>
            </a:r>
          </a:p>
        </p:txBody>
      </p:sp>
      <p:pic>
        <p:nvPicPr>
          <p:cNvPr id="733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734" name="Text 7"/>
          <p:cNvSpPr txBox="1"/>
          <p:nvPr/>
        </p:nvSpPr>
        <p:spPr>
          <a:xfrm>
            <a:off x="304495" y="4846828"/>
            <a:ext cx="7413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POWER TOOLS</a:t>
            </a:r>
          </a:p>
        </p:txBody>
      </p:sp>
      <p:sp>
        <p:nvSpPr>
          <p:cNvPr id="735" name="Text 8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39 / 44</a:t>
            </a:r>
          </a:p>
        </p:txBody>
      </p:sp>
      <p:sp>
        <p:nvSpPr>
          <p:cNvPr id="736" name="Shape 2"/>
          <p:cNvSpPr/>
          <p:nvPr/>
        </p:nvSpPr>
        <p:spPr>
          <a:xfrm>
            <a:off x="475487" y="3200400"/>
            <a:ext cx="4937762" cy="1481328"/>
          </a:xfrm>
          <a:prstGeom prst="rect">
            <a:avLst/>
          </a:prstGeom>
          <a:solidFill>
            <a:srgbClr val="1A1A1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37" name="Text 3"/>
          <p:cNvSpPr txBox="1"/>
          <p:nvPr/>
        </p:nvSpPr>
        <p:spPr>
          <a:xfrm>
            <a:off x="658368" y="3319780"/>
            <a:ext cx="4572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.mcp.json — committed to the repo</a:t>
            </a:r>
          </a:p>
        </p:txBody>
      </p:sp>
      <p:sp>
        <p:nvSpPr>
          <p:cNvPr id="738" name="Text 4"/>
          <p:cNvSpPr txBox="1"/>
          <p:nvPr/>
        </p:nvSpPr>
        <p:spPr>
          <a:xfrm>
            <a:off x="658368" y="3566159"/>
            <a:ext cx="4572001" cy="939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{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"mcpServers": {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"</a:t>
            </a:r>
            <a:r>
              <a:rPr>
                <a:solidFill>
                  <a:srgbClr val="F04242"/>
                </a:solidFill>
              </a:rPr>
              <a:t>issue-tracker</a:t>
            </a:r>
            <a:r>
              <a:t>": { "type": "http",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"url": "</a:t>
            </a:r>
            <a:r>
              <a:rPr>
                <a:solidFill>
                  <a:srgbClr val="FFD24D"/>
                </a:solidFill>
              </a:rPr>
              <a:t>https://&lt;your-mcp-host&gt;/mcp</a:t>
            </a:r>
            <a:r>
              <a:t>" }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}</a:t>
            </a:r>
          </a:p>
          <a:p>
            <a:pPr>
              <a:lnSpc>
                <a:spcPct val="128000"/>
              </a:lnSpc>
              <a:defRPr sz="900">
                <a:solidFill>
                  <a:srgbClr val="BFBFBF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06 · OCCASIONAL WEAPONS</a:t>
            </a:r>
          </a:p>
        </p:txBody>
      </p:sp>
      <p:sp>
        <p:nvSpPr>
          <p:cNvPr id="743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For when a normal session isn't enough</a:t>
            </a:r>
          </a:p>
        </p:txBody>
      </p:sp>
      <p:sp>
        <p:nvSpPr>
          <p:cNvPr id="744" name="Shape 2"/>
          <p:cNvSpPr/>
          <p:nvPr/>
        </p:nvSpPr>
        <p:spPr>
          <a:xfrm>
            <a:off x="457200" y="1234439"/>
            <a:ext cx="4041648" cy="135331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5" name="Text 3"/>
          <p:cNvSpPr txBox="1"/>
          <p:nvPr/>
        </p:nvSpPr>
        <p:spPr>
          <a:xfrm>
            <a:off x="658367" y="1429004"/>
            <a:ext cx="35661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Subagents</a:t>
            </a:r>
          </a:p>
        </p:txBody>
      </p:sp>
      <p:sp>
        <p:nvSpPr>
          <p:cNvPr id="746" name="Text 4"/>
          <p:cNvSpPr txBox="1"/>
          <p:nvPr/>
        </p:nvSpPr>
        <p:spPr>
          <a:xfrm>
            <a:off x="658368" y="1673351"/>
            <a:ext cx="3639312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Fan a large task across parallel agents, each with an isolated context. Codebase-wide audits, big refactors, mass migrations.</a:t>
            </a:r>
          </a:p>
        </p:txBody>
      </p:sp>
      <p:sp>
        <p:nvSpPr>
          <p:cNvPr id="747" name="Shape 5"/>
          <p:cNvSpPr/>
          <p:nvPr/>
        </p:nvSpPr>
        <p:spPr>
          <a:xfrm>
            <a:off x="4645152" y="1234439"/>
            <a:ext cx="4041648" cy="135331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48" name="Text 6"/>
          <p:cNvSpPr txBox="1"/>
          <p:nvPr/>
        </p:nvSpPr>
        <p:spPr>
          <a:xfrm>
            <a:off x="4846320" y="1429004"/>
            <a:ext cx="35661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ultracode</a:t>
            </a:r>
          </a:p>
        </p:txBody>
      </p:sp>
      <p:sp>
        <p:nvSpPr>
          <p:cNvPr id="749" name="Text 7"/>
          <p:cNvSpPr txBox="1"/>
          <p:nvPr/>
        </p:nvSpPr>
        <p:spPr>
          <a:xfrm>
            <a:off x="4846320" y="1673351"/>
            <a:ext cx="3639313" cy="4989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Max reasoning effort + automatic multi-agent orchestration in one setting (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/effort ultracode</a:t>
            </a:r>
            <a:r>
              <a:t>). For the gnarly problem that survived a normal session.</a:t>
            </a:r>
          </a:p>
        </p:txBody>
      </p:sp>
      <p:sp>
        <p:nvSpPr>
          <p:cNvPr id="750" name="Shape 8"/>
          <p:cNvSpPr/>
          <p:nvPr/>
        </p:nvSpPr>
        <p:spPr>
          <a:xfrm>
            <a:off x="457200" y="2715767"/>
            <a:ext cx="4041648" cy="135331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1" name="Text 9"/>
          <p:cNvSpPr txBox="1"/>
          <p:nvPr/>
        </p:nvSpPr>
        <p:spPr>
          <a:xfrm>
            <a:off x="658367" y="2910332"/>
            <a:ext cx="356616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/loop</a:t>
            </a:r>
          </a:p>
        </p:txBody>
      </p:sp>
      <p:sp>
        <p:nvSpPr>
          <p:cNvPr id="752" name="Text 10"/>
          <p:cNvSpPr txBox="1"/>
          <p:nvPr/>
        </p:nvSpPr>
        <p:spPr>
          <a:xfrm>
            <a:off x="658368" y="3154679"/>
            <a:ext cx="3639312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Run a prompt on an interval — an in-session cron. 'Every 5m: check the deploy, ping me if it goes red.'</a:t>
            </a:r>
          </a:p>
        </p:txBody>
      </p:sp>
      <p:sp>
        <p:nvSpPr>
          <p:cNvPr id="753" name="Shape 11"/>
          <p:cNvSpPr/>
          <p:nvPr/>
        </p:nvSpPr>
        <p:spPr>
          <a:xfrm>
            <a:off x="4645152" y="2715767"/>
            <a:ext cx="4041648" cy="1353314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4" name="Text 12"/>
          <p:cNvSpPr txBox="1"/>
          <p:nvPr/>
        </p:nvSpPr>
        <p:spPr>
          <a:xfrm>
            <a:off x="4846320" y="2910332"/>
            <a:ext cx="356616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Headless / CI</a:t>
            </a:r>
          </a:p>
        </p:txBody>
      </p:sp>
      <p:sp>
        <p:nvSpPr>
          <p:cNvPr id="755" name="Text 13"/>
          <p:cNvSpPr txBox="1"/>
          <p:nvPr/>
        </p:nvSpPr>
        <p:spPr>
          <a:xfrm>
            <a:off x="4846320" y="3154679"/>
            <a:ext cx="3639313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Claude Code inside pipelines: automated PR review, changelog generation, scheduled maintenance chores.</a:t>
            </a:r>
          </a:p>
        </p:txBody>
      </p:sp>
      <p:sp>
        <p:nvSpPr>
          <p:cNvPr id="756" name="Text 14"/>
          <p:cNvSpPr txBox="1"/>
          <p:nvPr/>
        </p:nvSpPr>
        <p:spPr>
          <a:xfrm>
            <a:off x="475487" y="4251451"/>
            <a:ext cx="82296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Cost caveat: </a:t>
            </a:r>
            <a:r>
              <a:rPr b="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rPr>
              <a:t>these multiply token usage. The tiering principle applies — expensive tools for expensive problems, never as the default.</a:t>
            </a:r>
          </a:p>
        </p:txBody>
      </p:sp>
      <p:pic>
        <p:nvPicPr>
          <p:cNvPr id="757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758" name="Text 15"/>
          <p:cNvSpPr txBox="1"/>
          <p:nvPr/>
        </p:nvSpPr>
        <p:spPr>
          <a:xfrm>
            <a:off x="304495" y="4846828"/>
            <a:ext cx="74131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POWER TOOLS</a:t>
            </a:r>
          </a:p>
        </p:txBody>
      </p:sp>
      <p:sp>
        <p:nvSpPr>
          <p:cNvPr id="759" name="Text 16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40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Text 0"/>
          <p:cNvSpPr txBox="1"/>
          <p:nvPr/>
        </p:nvSpPr>
        <p:spPr>
          <a:xfrm>
            <a:off x="475487" y="1521205"/>
            <a:ext cx="7315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F0424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07 · 16:30</a:t>
            </a:r>
          </a:p>
        </p:txBody>
      </p:sp>
      <p:sp>
        <p:nvSpPr>
          <p:cNvPr id="764" name="Text 1"/>
          <p:cNvSpPr txBox="1"/>
          <p:nvPr/>
        </p:nvSpPr>
        <p:spPr>
          <a:xfrm>
            <a:off x="475488" y="1974849"/>
            <a:ext cx="81381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Keep getting better</a:t>
            </a:r>
          </a:p>
        </p:txBody>
      </p:sp>
      <p:sp>
        <p:nvSpPr>
          <p:cNvPr id="765" name="Text 2"/>
          <p:cNvSpPr txBox="1"/>
          <p:nvPr/>
        </p:nvSpPr>
        <p:spPr>
          <a:xfrm>
            <a:off x="475487" y="2748280"/>
            <a:ext cx="749808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BFBFB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Today ends; the improvement loop doesn't. Treat your AI workflow like a codebase — it needs maintenance and refactoring.</a:t>
            </a:r>
          </a:p>
        </p:txBody>
      </p:sp>
      <p:pic>
        <p:nvPicPr>
          <p:cNvPr id="766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767" name="Text 3"/>
          <p:cNvSpPr txBox="1"/>
          <p:nvPr/>
        </p:nvSpPr>
        <p:spPr>
          <a:xfrm>
            <a:off x="304495" y="4846828"/>
            <a:ext cx="83583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07 · 16:30</a:t>
            </a:r>
          </a:p>
        </p:txBody>
      </p:sp>
      <p:sp>
        <p:nvSpPr>
          <p:cNvPr id="768" name="Text 4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6E6E6E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41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07 · THE RETRO LOOP</a:t>
            </a:r>
          </a:p>
        </p:txBody>
      </p:sp>
      <p:sp>
        <p:nvSpPr>
          <p:cNvPr id="773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Every bad session points at a fixable artifact</a:t>
            </a:r>
          </a:p>
        </p:txBody>
      </p:sp>
      <p:sp>
        <p:nvSpPr>
          <p:cNvPr id="774" name="Shape 2"/>
          <p:cNvSpPr/>
          <p:nvPr/>
        </p:nvSpPr>
        <p:spPr>
          <a:xfrm>
            <a:off x="457200" y="1234439"/>
            <a:ext cx="1901951" cy="260604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5" name="Shape 3"/>
          <p:cNvSpPr/>
          <p:nvPr/>
        </p:nvSpPr>
        <p:spPr>
          <a:xfrm>
            <a:off x="457200" y="1234439"/>
            <a:ext cx="1901951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76" name="Text 4"/>
          <p:cNvSpPr txBox="1"/>
          <p:nvPr/>
        </p:nvSpPr>
        <p:spPr>
          <a:xfrm>
            <a:off x="1581911" y="1321307"/>
            <a:ext cx="62179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3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777" name="Text 5"/>
          <p:cNvSpPr txBox="1"/>
          <p:nvPr/>
        </p:nvSpPr>
        <p:spPr>
          <a:xfrm>
            <a:off x="621791" y="1929130"/>
            <a:ext cx="153619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Bad session</a:t>
            </a:r>
          </a:p>
        </p:txBody>
      </p:sp>
      <p:sp>
        <p:nvSpPr>
          <p:cNvPr id="778" name="Text 6"/>
          <p:cNvSpPr txBox="1"/>
          <p:nvPr/>
        </p:nvSpPr>
        <p:spPr>
          <a:xfrm>
            <a:off x="621791" y="2212848"/>
            <a:ext cx="1572769" cy="488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(or a surprisingly good one). Don't shrug and move on — that's data.</a:t>
            </a:r>
          </a:p>
        </p:txBody>
      </p:sp>
      <p:sp>
        <p:nvSpPr>
          <p:cNvPr id="779" name="Text 7"/>
          <p:cNvSpPr txBox="1"/>
          <p:nvPr/>
        </p:nvSpPr>
        <p:spPr>
          <a:xfrm>
            <a:off x="2377439" y="2349500"/>
            <a:ext cx="25603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780" name="Shape 8"/>
          <p:cNvSpPr/>
          <p:nvPr/>
        </p:nvSpPr>
        <p:spPr>
          <a:xfrm>
            <a:off x="2624327" y="1234439"/>
            <a:ext cx="1901952" cy="260604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1" name="Shape 9"/>
          <p:cNvSpPr/>
          <p:nvPr/>
        </p:nvSpPr>
        <p:spPr>
          <a:xfrm>
            <a:off x="2624327" y="1234439"/>
            <a:ext cx="1901952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2" name="Text 10"/>
          <p:cNvSpPr txBox="1"/>
          <p:nvPr/>
        </p:nvSpPr>
        <p:spPr>
          <a:xfrm>
            <a:off x="3749040" y="1321307"/>
            <a:ext cx="62179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3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783" name="Text 11"/>
          <p:cNvSpPr txBox="1"/>
          <p:nvPr/>
        </p:nvSpPr>
        <p:spPr>
          <a:xfrm>
            <a:off x="2788920" y="1929130"/>
            <a:ext cx="153619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Ask why</a:t>
            </a:r>
          </a:p>
        </p:txBody>
      </p:sp>
      <p:sp>
        <p:nvSpPr>
          <p:cNvPr id="784" name="Text 12"/>
          <p:cNvSpPr txBox="1"/>
          <p:nvPr/>
        </p:nvSpPr>
        <p:spPr>
          <a:xfrm>
            <a:off x="2788920" y="2212848"/>
            <a:ext cx="1572769" cy="488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Missing context? Repeated yourself? Misunderstood the domain? Wrong scope?</a:t>
            </a:r>
          </a:p>
        </p:txBody>
      </p:sp>
      <p:sp>
        <p:nvSpPr>
          <p:cNvPr id="785" name="Text 13"/>
          <p:cNvSpPr txBox="1"/>
          <p:nvPr/>
        </p:nvSpPr>
        <p:spPr>
          <a:xfrm>
            <a:off x="4544567" y="2349500"/>
            <a:ext cx="25603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786" name="Shape 14"/>
          <p:cNvSpPr/>
          <p:nvPr/>
        </p:nvSpPr>
        <p:spPr>
          <a:xfrm>
            <a:off x="4791455" y="1234439"/>
            <a:ext cx="1901952" cy="260604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7" name="Shape 15"/>
          <p:cNvSpPr/>
          <p:nvPr/>
        </p:nvSpPr>
        <p:spPr>
          <a:xfrm>
            <a:off x="4791455" y="1234439"/>
            <a:ext cx="1901952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88" name="Text 16"/>
          <p:cNvSpPr txBox="1"/>
          <p:nvPr/>
        </p:nvSpPr>
        <p:spPr>
          <a:xfrm>
            <a:off x="5916167" y="1321307"/>
            <a:ext cx="62179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3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789" name="Text 17"/>
          <p:cNvSpPr txBox="1"/>
          <p:nvPr/>
        </p:nvSpPr>
        <p:spPr>
          <a:xfrm>
            <a:off x="4956047" y="1929130"/>
            <a:ext cx="153619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Fix the artifact</a:t>
            </a:r>
          </a:p>
        </p:txBody>
      </p:sp>
      <p:sp>
        <p:nvSpPr>
          <p:cNvPr id="790" name="Text 18"/>
          <p:cNvSpPr txBox="1"/>
          <p:nvPr/>
        </p:nvSpPr>
        <p:spPr>
          <a:xfrm>
            <a:off x="4956047" y="2212848"/>
            <a:ext cx="1572769" cy="869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Missing context →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t>. Repetition → skill. Domain confusion →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CONTEXT.md</a:t>
            </a:r>
            <a:r>
              <a:t>. Too big → slice smaller.</a:t>
            </a:r>
          </a:p>
        </p:txBody>
      </p:sp>
      <p:sp>
        <p:nvSpPr>
          <p:cNvPr id="791" name="Text 19"/>
          <p:cNvSpPr txBox="1"/>
          <p:nvPr/>
        </p:nvSpPr>
        <p:spPr>
          <a:xfrm>
            <a:off x="6711695" y="2349500"/>
            <a:ext cx="25603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2200">
                <a:solidFill>
                  <a:srgbClr val="D0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›</a:t>
            </a:r>
          </a:p>
        </p:txBody>
      </p:sp>
      <p:sp>
        <p:nvSpPr>
          <p:cNvPr id="792" name="Shape 20"/>
          <p:cNvSpPr/>
          <p:nvPr/>
        </p:nvSpPr>
        <p:spPr>
          <a:xfrm>
            <a:off x="6958583" y="1234439"/>
            <a:ext cx="1901952" cy="260604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3" name="Shape 21"/>
          <p:cNvSpPr/>
          <p:nvPr/>
        </p:nvSpPr>
        <p:spPr>
          <a:xfrm>
            <a:off x="6958583" y="1234439"/>
            <a:ext cx="1901952" cy="25604"/>
          </a:xfrm>
          <a:prstGeom prst="rect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94" name="Text 22"/>
          <p:cNvSpPr txBox="1"/>
          <p:nvPr/>
        </p:nvSpPr>
        <p:spPr>
          <a:xfrm>
            <a:off x="8083295" y="1321307"/>
            <a:ext cx="621793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3000">
                <a:solidFill>
                  <a:srgbClr val="111111">
                    <a:alpha val="7000"/>
                  </a:srgbClr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95" name="Text 23"/>
          <p:cNvSpPr txBox="1"/>
          <p:nvPr/>
        </p:nvSpPr>
        <p:spPr>
          <a:xfrm>
            <a:off x="7123176" y="1929130"/>
            <a:ext cx="153619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It compounds</a:t>
            </a:r>
          </a:p>
        </p:txBody>
      </p:sp>
      <p:sp>
        <p:nvSpPr>
          <p:cNvPr id="796" name="Text 24"/>
          <p:cNvSpPr txBox="1"/>
          <p:nvPr/>
        </p:nvSpPr>
        <p:spPr>
          <a:xfrm>
            <a:off x="7123176" y="2212848"/>
            <a:ext cx="1572769" cy="498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Every future session inherits the fix. Watch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/cost</a:t>
            </a:r>
            <a:r>
              <a:t> trend down over weeks.</a:t>
            </a:r>
          </a:p>
        </p:txBody>
      </p:sp>
      <p:sp>
        <p:nvSpPr>
          <p:cNvPr id="797" name="Text 25"/>
          <p:cNvSpPr txBox="1"/>
          <p:nvPr/>
        </p:nvSpPr>
        <p:spPr>
          <a:xfrm>
            <a:off x="475487" y="4169409"/>
            <a:ext cx="82296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100">
                <a:solidFill>
                  <a:srgbClr val="595959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This loop is the actual deliverable of today. Everything else was an instance of it.</a:t>
            </a:r>
          </a:p>
        </p:txBody>
      </p:sp>
      <p:pic>
        <p:nvPicPr>
          <p:cNvPr id="798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799" name="Text 26"/>
          <p:cNvSpPr txBox="1"/>
          <p:nvPr/>
        </p:nvSpPr>
        <p:spPr>
          <a:xfrm>
            <a:off x="304495" y="4846828"/>
            <a:ext cx="11641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KEEP GETTING BETTER</a:t>
            </a:r>
          </a:p>
        </p:txBody>
      </p:sp>
      <p:sp>
        <p:nvSpPr>
          <p:cNvPr id="800" name="Text 27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42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07 · TEAM FLYWHEEL</a:t>
            </a:r>
          </a:p>
        </p:txBody>
      </p:sp>
      <p:sp>
        <p:nvSpPr>
          <p:cNvPr id="805" name="Text 1"/>
          <p:cNvSpPr txBox="1"/>
          <p:nvPr/>
        </p:nvSpPr>
        <p:spPr>
          <a:xfrm>
            <a:off x="475488" y="495179"/>
            <a:ext cx="7680960" cy="3355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Individual reflexes → team capability</a:t>
            </a:r>
          </a:p>
        </p:txBody>
      </p:sp>
      <p:sp>
        <p:nvSpPr>
          <p:cNvPr id="806" name="Shape 2"/>
          <p:cNvSpPr/>
          <p:nvPr/>
        </p:nvSpPr>
        <p:spPr>
          <a:xfrm>
            <a:off x="457200" y="1234439"/>
            <a:ext cx="2651761" cy="246888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07" name="Shape 3"/>
          <p:cNvSpPr/>
          <p:nvPr/>
        </p:nvSpPr>
        <p:spPr>
          <a:xfrm>
            <a:off x="658368" y="1435608"/>
            <a:ext cx="310896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08" name="Text 4"/>
          <p:cNvSpPr txBox="1"/>
          <p:nvPr/>
        </p:nvSpPr>
        <p:spPr>
          <a:xfrm>
            <a:off x="658368" y="1499361"/>
            <a:ext cx="31089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09" name="Text 5"/>
          <p:cNvSpPr txBox="1"/>
          <p:nvPr/>
        </p:nvSpPr>
        <p:spPr>
          <a:xfrm>
            <a:off x="658368" y="1922780"/>
            <a:ext cx="2286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Share the tooling</a:t>
            </a:r>
          </a:p>
        </p:txBody>
      </p:sp>
      <p:sp>
        <p:nvSpPr>
          <p:cNvPr id="810" name="Text 6"/>
          <p:cNvSpPr txBox="1"/>
          <p:nvPr/>
        </p:nvSpPr>
        <p:spPr>
          <a:xfrm>
            <a:off x="658368" y="2194560"/>
            <a:ext cx="2240280" cy="673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Skills,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CLAUDE.md</a:t>
            </a:r>
            <a:r>
              <a:t> and hooks live in git. One dev's improvement lands in everyone's next session. Review skill changes like code.</a:t>
            </a:r>
          </a:p>
        </p:txBody>
      </p:sp>
      <p:sp>
        <p:nvSpPr>
          <p:cNvPr id="811" name="Shape 7"/>
          <p:cNvSpPr/>
          <p:nvPr/>
        </p:nvSpPr>
        <p:spPr>
          <a:xfrm>
            <a:off x="3246120" y="1234439"/>
            <a:ext cx="2651761" cy="246888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2" name="Shape 8"/>
          <p:cNvSpPr/>
          <p:nvPr/>
        </p:nvSpPr>
        <p:spPr>
          <a:xfrm>
            <a:off x="3447288" y="1435608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3" name="Text 9"/>
          <p:cNvSpPr txBox="1"/>
          <p:nvPr/>
        </p:nvSpPr>
        <p:spPr>
          <a:xfrm>
            <a:off x="3447288" y="1499361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14" name="Text 10"/>
          <p:cNvSpPr txBox="1"/>
          <p:nvPr/>
        </p:nvSpPr>
        <p:spPr>
          <a:xfrm>
            <a:off x="3447288" y="1922780"/>
            <a:ext cx="2286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#claude-tips</a:t>
            </a:r>
          </a:p>
        </p:txBody>
      </p:sp>
      <p:sp>
        <p:nvSpPr>
          <p:cNvPr id="815" name="Text 11"/>
          <p:cNvSpPr txBox="1"/>
          <p:nvPr/>
        </p:nvSpPr>
        <p:spPr>
          <a:xfrm>
            <a:off x="3447288" y="2194560"/>
            <a:ext cx="2240280" cy="488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A channel where 'look what worked' gets posted. Low ceremony, high compounding. Seed it yourself for two weeks.</a:t>
            </a:r>
          </a:p>
        </p:txBody>
      </p:sp>
      <p:sp>
        <p:nvSpPr>
          <p:cNvPr id="816" name="Shape 12"/>
          <p:cNvSpPr/>
          <p:nvPr/>
        </p:nvSpPr>
        <p:spPr>
          <a:xfrm>
            <a:off x="6035040" y="1234439"/>
            <a:ext cx="2651761" cy="246888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17" name="Shape 13"/>
          <p:cNvSpPr/>
          <p:nvPr/>
        </p:nvSpPr>
        <p:spPr>
          <a:xfrm>
            <a:off x="6236208" y="1435608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18" name="Text 14"/>
          <p:cNvSpPr txBox="1"/>
          <p:nvPr/>
        </p:nvSpPr>
        <p:spPr>
          <a:xfrm>
            <a:off x="6236208" y="1499361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19" name="Text 15"/>
          <p:cNvSpPr txBox="1"/>
          <p:nvPr/>
        </p:nvSpPr>
        <p:spPr>
          <a:xfrm>
            <a:off x="6236208" y="1922780"/>
            <a:ext cx="2286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Monthly workflow retro</a:t>
            </a:r>
          </a:p>
        </p:txBody>
      </p:sp>
      <p:sp>
        <p:nvSpPr>
          <p:cNvPr id="820" name="Text 16"/>
          <p:cNvSpPr txBox="1"/>
          <p:nvPr/>
        </p:nvSpPr>
        <p:spPr>
          <a:xfrm>
            <a:off x="6236208" y="2194560"/>
            <a:ext cx="2240281" cy="4989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30 minutes: each dev demos one improvement — a skill, a hook, a </a:t>
            </a:r>
            <a:r>
              <a:rPr b="1">
                <a:solidFill>
                  <a:srgbClr val="D01111"/>
                </a:solidFill>
                <a:latin typeface="Courier New"/>
                <a:ea typeface="Courier New"/>
                <a:cs typeface="Courier New"/>
                <a:sym typeface="Courier New"/>
              </a:rPr>
              <a:t>/cost</a:t>
            </a:r>
            <a:r>
              <a:t> win. The loop, made social.</a:t>
            </a:r>
          </a:p>
        </p:txBody>
      </p:sp>
      <p:sp>
        <p:nvSpPr>
          <p:cNvPr id="821" name="Text 17"/>
          <p:cNvSpPr txBox="1"/>
          <p:nvPr/>
        </p:nvSpPr>
        <p:spPr>
          <a:xfrm>
            <a:off x="475487" y="4064000"/>
            <a:ext cx="822960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Staying current: </a:t>
            </a:r>
            <a:r>
              <a:rPr b="0">
                <a:latin typeface="Aptos Light"/>
                <a:ea typeface="Aptos Light"/>
                <a:cs typeface="Aptos Light"/>
                <a:sym typeface="Aptos Light"/>
              </a:rPr>
              <a:t>the Claude Code changelog, community skill libraries (Pocock's among them) — evaluate new features skeptically, adopt what survives the retro.</a:t>
            </a:r>
          </a:p>
        </p:txBody>
      </p:sp>
      <p:pic>
        <p:nvPicPr>
          <p:cNvPr id="822" name="Image 0" descr="Image 0"/>
          <p:cNvPicPr>
            <a:picLocks noChangeAspect="1"/>
          </p:cNvPicPr>
          <p:nvPr/>
        </p:nvPicPr>
        <p:blipFill>
          <a:blip r:embed="rId2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823" name="Text 18"/>
          <p:cNvSpPr txBox="1"/>
          <p:nvPr/>
        </p:nvSpPr>
        <p:spPr>
          <a:xfrm>
            <a:off x="304495" y="4846828"/>
            <a:ext cx="11641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KEEP GETTING BETTER</a:t>
            </a:r>
          </a:p>
        </p:txBody>
      </p:sp>
      <p:sp>
        <p:nvSpPr>
          <p:cNvPr id="824" name="Text 19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43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Text 0"/>
          <p:cNvSpPr txBox="1"/>
          <p:nvPr/>
        </p:nvSpPr>
        <p:spPr>
          <a:xfrm>
            <a:off x="475488" y="250190"/>
            <a:ext cx="676656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D01111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BLOCK 07 · TEAM FLYWHEEL</a:t>
            </a:r>
          </a:p>
        </p:txBody>
      </p:sp>
      <p:sp>
        <p:nvSpPr>
          <p:cNvPr id="827" name="Text 1"/>
          <p:cNvSpPr txBox="1"/>
          <p:nvPr/>
        </p:nvSpPr>
        <p:spPr>
          <a:xfrm>
            <a:off x="475488" y="497840"/>
            <a:ext cx="76809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Sharing is Caring</a:t>
            </a:r>
          </a:p>
        </p:txBody>
      </p:sp>
      <p:sp>
        <p:nvSpPr>
          <p:cNvPr id="828" name="Shape 2"/>
          <p:cNvSpPr/>
          <p:nvPr/>
        </p:nvSpPr>
        <p:spPr>
          <a:xfrm>
            <a:off x="457200" y="1234439"/>
            <a:ext cx="2651761" cy="246888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29" name="Shape 3"/>
          <p:cNvSpPr/>
          <p:nvPr/>
        </p:nvSpPr>
        <p:spPr>
          <a:xfrm>
            <a:off x="658368" y="1435608"/>
            <a:ext cx="310896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0" name="Text 4"/>
          <p:cNvSpPr txBox="1"/>
          <p:nvPr/>
        </p:nvSpPr>
        <p:spPr>
          <a:xfrm>
            <a:off x="658368" y="1499361"/>
            <a:ext cx="31089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31" name="Text 5"/>
          <p:cNvSpPr txBox="1"/>
          <p:nvPr/>
        </p:nvSpPr>
        <p:spPr>
          <a:xfrm>
            <a:off x="658368" y="1922780"/>
            <a:ext cx="2286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Experiment</a:t>
            </a:r>
          </a:p>
        </p:txBody>
      </p:sp>
      <p:sp>
        <p:nvSpPr>
          <p:cNvPr id="832" name="Text 6"/>
          <p:cNvSpPr txBox="1"/>
          <p:nvPr/>
        </p:nvSpPr>
        <p:spPr>
          <a:xfrm>
            <a:off x="658368" y="2194560"/>
            <a:ext cx="2240280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Saw something online? New model? New Skill (Framework)? Try it out!</a:t>
            </a:r>
          </a:p>
          <a:p>
            <a: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</a:p>
          <a:p>
            <a: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pPr>
            <a:r>
              <a:t>Don’t base your conclusions on one experiment though!</a:t>
            </a:r>
          </a:p>
        </p:txBody>
      </p:sp>
      <p:sp>
        <p:nvSpPr>
          <p:cNvPr id="833" name="Shape 7"/>
          <p:cNvSpPr/>
          <p:nvPr/>
        </p:nvSpPr>
        <p:spPr>
          <a:xfrm>
            <a:off x="3246120" y="1234439"/>
            <a:ext cx="2651761" cy="246888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4" name="Shape 8"/>
          <p:cNvSpPr/>
          <p:nvPr/>
        </p:nvSpPr>
        <p:spPr>
          <a:xfrm>
            <a:off x="3447288" y="1435608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35" name="Text 9"/>
          <p:cNvSpPr txBox="1"/>
          <p:nvPr/>
        </p:nvSpPr>
        <p:spPr>
          <a:xfrm>
            <a:off x="3447288" y="1499361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36" name="Text 10"/>
          <p:cNvSpPr txBox="1"/>
          <p:nvPr/>
        </p:nvSpPr>
        <p:spPr>
          <a:xfrm>
            <a:off x="3447288" y="1922780"/>
            <a:ext cx="2286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Share</a:t>
            </a:r>
          </a:p>
        </p:txBody>
      </p:sp>
      <p:sp>
        <p:nvSpPr>
          <p:cNvPr id="837" name="Text 11"/>
          <p:cNvSpPr txBox="1"/>
          <p:nvPr/>
        </p:nvSpPr>
        <p:spPr>
          <a:xfrm>
            <a:off x="3447288" y="2194560"/>
            <a:ext cx="2240280" cy="314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Talk to your colleagues, post your findings, share interesting articles and newsletters.</a:t>
            </a:r>
          </a:p>
        </p:txBody>
      </p:sp>
      <p:sp>
        <p:nvSpPr>
          <p:cNvPr id="838" name="Shape 12"/>
          <p:cNvSpPr/>
          <p:nvPr/>
        </p:nvSpPr>
        <p:spPr>
          <a:xfrm>
            <a:off x="6035040" y="1234439"/>
            <a:ext cx="2651761" cy="2468881"/>
          </a:xfrm>
          <a:prstGeom prst="rect">
            <a:avLst/>
          </a:prstGeom>
          <a:solidFill>
            <a:srgbClr val="F3F4F6"/>
          </a:solidFill>
          <a:ln w="12700">
            <a:solidFill>
              <a:srgbClr val="E5E5E5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9" name="Shape 13"/>
          <p:cNvSpPr/>
          <p:nvPr/>
        </p:nvSpPr>
        <p:spPr>
          <a:xfrm>
            <a:off x="6236208" y="1435608"/>
            <a:ext cx="310897" cy="310897"/>
          </a:xfrm>
          <a:prstGeom prst="ellipse">
            <a:avLst/>
          </a:prstGeom>
          <a:solidFill>
            <a:srgbClr val="D0111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0" name="Text 14"/>
          <p:cNvSpPr txBox="1"/>
          <p:nvPr/>
        </p:nvSpPr>
        <p:spPr>
          <a:xfrm>
            <a:off x="6236208" y="1499361"/>
            <a:ext cx="310897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41" name="Text 15"/>
          <p:cNvSpPr txBox="1"/>
          <p:nvPr/>
        </p:nvSpPr>
        <p:spPr>
          <a:xfrm>
            <a:off x="6236208" y="1922780"/>
            <a:ext cx="22860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Implement</a:t>
            </a:r>
          </a:p>
        </p:txBody>
      </p:sp>
      <p:sp>
        <p:nvSpPr>
          <p:cNvPr id="842" name="Text 16"/>
          <p:cNvSpPr txBox="1"/>
          <p:nvPr/>
        </p:nvSpPr>
        <p:spPr>
          <a:xfrm>
            <a:off x="6236208" y="2194560"/>
            <a:ext cx="2240281" cy="4889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900">
                <a:solidFill>
                  <a:srgbClr val="111111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Have your AI Champion distribute your findings through your AI framework / skill library / plugin / ruleset….</a:t>
            </a:r>
          </a:p>
        </p:txBody>
      </p:sp>
      <p:sp>
        <p:nvSpPr>
          <p:cNvPr id="843" name="Text 17"/>
          <p:cNvSpPr txBox="1"/>
          <p:nvPr/>
        </p:nvSpPr>
        <p:spPr>
          <a:xfrm>
            <a:off x="475487" y="4146550"/>
            <a:ext cx="82296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111111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pPr>
            <a:r>
              <a:t>A new model or workflow is </a:t>
            </a:r>
            <a:r>
              <a:rPr b="1"/>
              <a:t>litterally</a:t>
            </a:r>
            <a:r>
              <a:t> being released every other </a:t>
            </a:r>
            <a:r>
              <a:rPr b="1"/>
              <a:t>week</a:t>
            </a:r>
            <a:r>
              <a:t>. New isn’t always better, so be cautious.</a:t>
            </a:r>
          </a:p>
        </p:txBody>
      </p:sp>
      <p:pic>
        <p:nvPicPr>
          <p:cNvPr id="844" name="Image 0" descr="Image 0"/>
          <p:cNvPicPr>
            <a:picLocks noChangeAspect="1"/>
          </p:cNvPicPr>
          <p:nvPr/>
        </p:nvPicPr>
        <p:blipFill>
          <a:blip r:embed="rId2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845" name="Text 18"/>
          <p:cNvSpPr txBox="1"/>
          <p:nvPr/>
        </p:nvSpPr>
        <p:spPr>
          <a:xfrm>
            <a:off x="304495" y="4846828"/>
            <a:ext cx="11641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>
              <a:defRPr spc="50"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KEEP GETTING BETTER</a:t>
            </a:r>
          </a:p>
        </p:txBody>
      </p:sp>
      <p:sp>
        <p:nvSpPr>
          <p:cNvPr id="846" name="Text 19"/>
          <p:cNvSpPr txBox="1"/>
          <p:nvPr/>
        </p:nvSpPr>
        <p:spPr>
          <a:xfrm>
            <a:off x="8554939" y="4846828"/>
            <a:ext cx="28456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0" tIns="0" rIns="0" bIns="0" anchor="ctr">
            <a:spAutoFit/>
          </a:bodyPr>
          <a:lstStyle>
            <a:lvl1pPr algn="r">
              <a:defRPr sz="700">
                <a:solidFill>
                  <a:srgbClr val="AFAFA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43 / 44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Text 0"/>
          <p:cNvSpPr txBox="1"/>
          <p:nvPr/>
        </p:nvSpPr>
        <p:spPr>
          <a:xfrm>
            <a:off x="475487" y="1274317"/>
            <a:ext cx="731520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00" sz="900">
                <a:solidFill>
                  <a:srgbClr val="F04242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BEFORE YOU LEAVE</a:t>
            </a:r>
          </a:p>
        </p:txBody>
      </p:sp>
      <p:sp>
        <p:nvSpPr>
          <p:cNvPr id="849" name="Text 1"/>
          <p:cNvSpPr txBox="1"/>
          <p:nvPr/>
        </p:nvSpPr>
        <p:spPr>
          <a:xfrm>
            <a:off x="475488" y="1613661"/>
            <a:ext cx="8138160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Write down two commitments</a:t>
            </a:r>
          </a:p>
        </p:txBody>
      </p:sp>
      <p:sp>
        <p:nvSpPr>
          <p:cNvPr id="850" name="Shape 2"/>
          <p:cNvSpPr/>
          <p:nvPr/>
        </p:nvSpPr>
        <p:spPr>
          <a:xfrm>
            <a:off x="475487" y="2331720"/>
            <a:ext cx="3977642" cy="1554481"/>
          </a:xfrm>
          <a:prstGeom prst="rect">
            <a:avLst/>
          </a:prstGeom>
          <a:solidFill>
            <a:srgbClr val="1F1F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1" name="Shape 3"/>
          <p:cNvSpPr/>
          <p:nvPr/>
        </p:nvSpPr>
        <p:spPr>
          <a:xfrm>
            <a:off x="475487" y="2331720"/>
            <a:ext cx="3977642" cy="25604"/>
          </a:xfrm>
          <a:prstGeom prst="rect">
            <a:avLst/>
          </a:prstGeom>
          <a:solidFill>
            <a:srgbClr val="F0424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2" name="Text 4"/>
          <p:cNvSpPr txBox="1"/>
          <p:nvPr/>
        </p:nvSpPr>
        <p:spPr>
          <a:xfrm>
            <a:off x="694944" y="2560320"/>
            <a:ext cx="54864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04242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853" name="Text 5"/>
          <p:cNvSpPr txBox="1"/>
          <p:nvPr/>
        </p:nvSpPr>
        <p:spPr>
          <a:xfrm>
            <a:off x="1234439" y="2542032"/>
            <a:ext cx="3017522" cy="379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FFFFFF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The first repo you'll make AI-ready next week — CLAUDE.md, feedback loops, CONTEXT.md.</a:t>
            </a:r>
          </a:p>
        </p:txBody>
      </p:sp>
      <p:sp>
        <p:nvSpPr>
          <p:cNvPr id="854" name="Shape 6"/>
          <p:cNvSpPr/>
          <p:nvPr/>
        </p:nvSpPr>
        <p:spPr>
          <a:xfrm>
            <a:off x="4709159" y="2331720"/>
            <a:ext cx="3977641" cy="1554481"/>
          </a:xfrm>
          <a:prstGeom prst="rect">
            <a:avLst/>
          </a:prstGeom>
          <a:solidFill>
            <a:srgbClr val="1F1F1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5" name="Shape 7"/>
          <p:cNvSpPr/>
          <p:nvPr/>
        </p:nvSpPr>
        <p:spPr>
          <a:xfrm>
            <a:off x="4709159" y="2331720"/>
            <a:ext cx="3977641" cy="25604"/>
          </a:xfrm>
          <a:prstGeom prst="rect">
            <a:avLst/>
          </a:prstGeom>
          <a:solidFill>
            <a:srgbClr val="F0424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6" name="Text 8"/>
          <p:cNvSpPr txBox="1"/>
          <p:nvPr/>
        </p:nvSpPr>
        <p:spPr>
          <a:xfrm>
            <a:off x="4928615" y="2560320"/>
            <a:ext cx="548641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04242"/>
                </a:solidFill>
                <a:latin typeface="Aptos ExtraBold"/>
                <a:ea typeface="Aptos ExtraBold"/>
                <a:cs typeface="Aptos ExtraBold"/>
                <a:sym typeface="Aptos Extra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57" name="Text 9"/>
          <p:cNvSpPr txBox="1"/>
          <p:nvPr/>
        </p:nvSpPr>
        <p:spPr>
          <a:xfrm>
            <a:off x="5468111" y="2542032"/>
            <a:ext cx="3017522" cy="3797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100">
                <a:solidFill>
                  <a:srgbClr val="FFFFFF"/>
                </a:solidFill>
                <a:latin typeface="Aptos Light"/>
                <a:ea typeface="Aptos Light"/>
                <a:cs typeface="Aptos Light"/>
                <a:sym typeface="Aptos Light"/>
              </a:defRPr>
            </a:lvl1pPr>
          </a:lstStyle>
          <a:p>
            <a:pPr/>
            <a:r>
              <a:t>The first skill you'll write — the thing you explained twice this month.</a:t>
            </a:r>
          </a:p>
        </p:txBody>
      </p:sp>
      <p:sp>
        <p:nvSpPr>
          <p:cNvPr id="858" name="Text 10"/>
          <p:cNvSpPr txBox="1"/>
          <p:nvPr/>
        </p:nvSpPr>
        <p:spPr>
          <a:xfrm>
            <a:off x="475488" y="4213799"/>
            <a:ext cx="8138160" cy="167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BFBFBF"/>
                </a:solidFill>
                <a:latin typeface="Poppins"/>
                <a:ea typeface="Poppins"/>
                <a:cs typeface="Poppins"/>
                <a:sym typeface="Poppins"/>
              </a:defRPr>
            </a:lvl1pPr>
          </a:lstStyle>
          <a:p>
            <a:pPr/>
            <a:r>
              <a:t>Questions → Thomas Claessens · t.claessens@faktion.com</a:t>
            </a:r>
          </a:p>
        </p:txBody>
      </p:sp>
      <p:pic>
        <p:nvPicPr>
          <p:cNvPr id="859" name="Image 0" descr="Image 0"/>
          <p:cNvPicPr>
            <a:picLocks noChangeAspect="1"/>
          </p:cNvPicPr>
          <p:nvPr/>
        </p:nvPicPr>
        <p:blipFill>
          <a:blip r:embed="rId3">
            <a:alphaModFix amt="18000"/>
            <a:extLst/>
          </a:blip>
          <a:stretch>
            <a:fillRect/>
          </a:stretch>
        </p:blipFill>
        <p:spPr>
          <a:xfrm>
            <a:off x="8366759" y="384047"/>
            <a:ext cx="182881" cy="292610"/>
          </a:xfrm>
          <a:prstGeom prst="rect">
            <a:avLst/>
          </a:prstGeom>
          <a:ln w="12700">
            <a:miter lim="400000"/>
          </a:ln>
        </p:spPr>
      </p:pic>
      <p:sp>
        <p:nvSpPr>
          <p:cNvPr id="860" name="Shape 11"/>
          <p:cNvSpPr/>
          <p:nvPr/>
        </p:nvSpPr>
        <p:spPr>
          <a:xfrm>
            <a:off x="0" y="4773167"/>
            <a:ext cx="9144000" cy="370333"/>
          </a:xfrm>
          <a:prstGeom prst="rect">
            <a:avLst/>
          </a:prstGeom>
          <a:solidFill>
            <a:srgbClr val="F0424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61" name="Text 12"/>
          <p:cNvSpPr txBox="1"/>
          <p:nvPr/>
        </p:nvSpPr>
        <p:spPr>
          <a:xfrm>
            <a:off x="502919" y="4842763"/>
            <a:ext cx="8138161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</a:lstStyle>
          <a:p>
            <a:pPr/>
            <a:r>
              <a:t>The reflex, not the library.  Did it twice? That's a skill.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